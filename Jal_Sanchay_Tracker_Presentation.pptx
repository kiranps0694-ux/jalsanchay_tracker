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14" r:id="rId1"/>
  </p:sldMasterIdLst>
  <p:notesMasterIdLst>
    <p:notesMasterId r:id="rId17"/>
  </p:notesMasterIdLst>
  <p:sldIdLst>
    <p:sldId id="256" r:id="rId2"/>
    <p:sldId id="292" r:id="rId3"/>
    <p:sldId id="293" r:id="rId4"/>
    <p:sldId id="294" r:id="rId5"/>
    <p:sldId id="258" r:id="rId6"/>
    <p:sldId id="295" r:id="rId7"/>
    <p:sldId id="260" r:id="rId8"/>
    <p:sldId id="301" r:id="rId9"/>
    <p:sldId id="296" r:id="rId10"/>
    <p:sldId id="291" r:id="rId11"/>
    <p:sldId id="297" r:id="rId12"/>
    <p:sldId id="298" r:id="rId13"/>
    <p:sldId id="302" r:id="rId14"/>
    <p:sldId id="288" r:id="rId15"/>
    <p:sldId id="299" r:id="rId16"/>
  </p:sldIdLst>
  <p:sldSz cx="18288000" cy="10287000"/>
  <p:notesSz cx="18288000" cy="10287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D560B6-1E33-D556-825A-C4F12F076540}" vWet="1" dt="2025-07-03T14:18:34.931"/>
    <p1510:client id="{BC00DCBA-199B-45A3-BBB4-3C2AE3EF2DF6}" v="3" dt="2025-07-03T14:18:37.34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65" autoAdjust="0"/>
    <p:restoredTop sz="95033" autoAdjust="0"/>
  </p:normalViewPr>
  <p:slideViewPr>
    <p:cSldViewPr snapToGrid="0">
      <p:cViewPr varScale="1">
        <p:scale>
          <a:sx n="45" d="100"/>
          <a:sy n="45" d="100"/>
        </p:scale>
        <p:origin x="48" y="3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44D61C2C-5251-4BD2-B8A0-5548581AF688}" type="datetimeFigureOut">
              <a:rPr lang="en-IN" smtClean="0"/>
              <a:t>07-05-2026</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ABF841DD-1C20-401A-B495-6F61F556E1E3}" type="slidenum">
              <a:rPr lang="en-IN" smtClean="0"/>
              <a:t>‹#›</a:t>
            </a:fld>
            <a:endParaRPr lang="en-IN"/>
          </a:p>
        </p:txBody>
      </p:sp>
    </p:spTree>
    <p:extLst>
      <p:ext uri="{BB962C8B-B14F-4D97-AF65-F5344CB8AC3E}">
        <p14:creationId xmlns:p14="http://schemas.microsoft.com/office/powerpoint/2010/main" val="1528260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12700"/>
            <a:ext cx="18288000" cy="10299701"/>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2260601" y="3606801"/>
            <a:ext cx="11650404" cy="2469453"/>
          </a:xfrm>
        </p:spPr>
        <p:txBody>
          <a:bodyPr anchor="b">
            <a:noAutofit/>
          </a:bodyPr>
          <a:lstStyle>
            <a:lvl1pPr algn="r">
              <a:defRPr sz="81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260601" y="6076250"/>
            <a:ext cx="11650404" cy="1645349"/>
          </a:xfrm>
        </p:spPr>
        <p:txBody>
          <a:bodyPr anchor="t"/>
          <a:lstStyle>
            <a:lvl1pPr marL="0" indent="0" algn="r">
              <a:buNone/>
              <a:defRPr>
                <a:solidFill>
                  <a:schemeClr val="tx1">
                    <a:lumMod val="50000"/>
                    <a:lumOff val="5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6422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809719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6003" y="4051301"/>
            <a:ext cx="12895002" cy="2739872"/>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1290600"/>
          </a:xfrm>
        </p:spPr>
        <p:txBody>
          <a:bodyPr anchor="t"/>
          <a:lstStyle>
            <a:lvl1pPr marL="0" indent="0" algn="l">
              <a:buNone/>
              <a:defRPr sz="30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746789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16002" y="3240884"/>
            <a:ext cx="6276053" cy="58211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34955" y="3240884"/>
            <a:ext cx="6276051" cy="5821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136314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13618" y="3241475"/>
            <a:ext cx="6278435"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013618" y="4105868"/>
            <a:ext cx="6278435"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32575" y="3241475"/>
            <a:ext cx="6278427"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7632577" y="4105868"/>
            <a:ext cx="6278426"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89943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16001" y="914400"/>
            <a:ext cx="12895002" cy="19812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53368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223898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1" y="2247906"/>
            <a:ext cx="5781792" cy="1917699"/>
          </a:xfrm>
        </p:spPr>
        <p:txBody>
          <a:bodyPr anchor="b">
            <a:normAutofit/>
          </a:bodyPr>
          <a:lstStyle>
            <a:lvl1pPr>
              <a:defRPr sz="3000"/>
            </a:lvl1pPr>
          </a:lstStyle>
          <a:p>
            <a:r>
              <a:rPr lang="en-US"/>
              <a:t>Click to edit Master title style</a:t>
            </a:r>
            <a:endParaRPr lang="en-US" dirty="0"/>
          </a:p>
        </p:txBody>
      </p:sp>
      <p:sp>
        <p:nvSpPr>
          <p:cNvPr id="3" name="Content Placeholder 2"/>
          <p:cNvSpPr>
            <a:spLocks noGrp="1"/>
          </p:cNvSpPr>
          <p:nvPr>
            <p:ph idx="1"/>
          </p:nvPr>
        </p:nvSpPr>
        <p:spPr>
          <a:xfrm>
            <a:off x="7140692" y="772387"/>
            <a:ext cx="6770312" cy="828965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16001" y="4165604"/>
            <a:ext cx="5781792" cy="3876674"/>
          </a:xfrm>
        </p:spPr>
        <p:txBody>
          <a:bodyPr>
            <a:normAutofit/>
          </a:bodyPr>
          <a:lstStyle>
            <a:lvl1pPr marL="0" indent="0">
              <a:buNone/>
              <a:defRPr sz="2100"/>
            </a:lvl1pPr>
            <a:lvl2pPr marL="685595" indent="0">
              <a:buNone/>
              <a:defRPr sz="2100"/>
            </a:lvl2pPr>
            <a:lvl3pPr marL="1371189" indent="0">
              <a:buNone/>
              <a:defRPr sz="1800"/>
            </a:lvl3pPr>
            <a:lvl4pPr marL="2056784" indent="0">
              <a:buNone/>
              <a:defRPr sz="1500"/>
            </a:lvl4pPr>
            <a:lvl5pPr marL="2742377" indent="0">
              <a:buNone/>
              <a:defRPr sz="1500"/>
            </a:lvl5pPr>
            <a:lvl6pPr marL="3427971" indent="0">
              <a:buNone/>
              <a:defRPr sz="1500"/>
            </a:lvl6pPr>
            <a:lvl7pPr marL="4113566" indent="0">
              <a:buNone/>
              <a:defRPr sz="1500"/>
            </a:lvl7pPr>
            <a:lvl8pPr marL="4799160" indent="0">
              <a:buNone/>
              <a:defRPr sz="1500"/>
            </a:lvl8pPr>
            <a:lvl9pPr marL="5484755"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164560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2" y="7200900"/>
            <a:ext cx="12895001"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16001" y="914400"/>
            <a:ext cx="12895002" cy="5768577"/>
          </a:xfrm>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16002" y="8051007"/>
            <a:ext cx="12895001" cy="1011036"/>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
        <p:nvSpPr>
          <p:cNvPr id="5" name="Date Placeholder 4"/>
          <p:cNvSpPr>
            <a:spLocks noGrp="1"/>
          </p:cNvSpPr>
          <p:nvPr>
            <p:ph type="dt" sz="half" idx="10"/>
          </p:nvPr>
        </p:nvSpPr>
        <p:spPr/>
        <p:txBody>
          <a:bodyPr/>
          <a:lstStyle/>
          <a:p>
            <a:fld id="{1D8BD707-D9CF-40AE-B4C6-C98DA3205C09}" type="datetimeFigureOut">
              <a:rPr lang="en-US" smtClean="0"/>
              <a:t>5/7/2026</a:t>
            </a:fld>
            <a:endParaRPr lang="en-US"/>
          </a:p>
        </p:txBody>
      </p:sp>
    </p:spTree>
    <p:extLst>
      <p:ext uri="{BB962C8B-B14F-4D97-AF65-F5344CB8AC3E}">
        <p14:creationId xmlns:p14="http://schemas.microsoft.com/office/powerpoint/2010/main" val="919482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3" y="914400"/>
            <a:ext cx="12895002" cy="5105400"/>
          </a:xfrm>
        </p:spPr>
        <p:txBody>
          <a:bodyPr anchor="ctr">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759016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2049209" y="5448300"/>
            <a:ext cx="10836786" cy="571500"/>
          </a:xfrm>
        </p:spPr>
        <p:txBody>
          <a:bodyPr anchor="ctr">
            <a:noAutofit/>
          </a:bodyPr>
          <a:lstStyle>
            <a:lvl1pPr marL="0" indent="0">
              <a:buFontTx/>
              <a:buNone/>
              <a:defRPr sz="2400">
                <a:solidFill>
                  <a:schemeClr val="tx1">
                    <a:lumMod val="50000"/>
                    <a:lumOff val="50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39924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016003" y="2897982"/>
            <a:ext cx="12895002" cy="3893190"/>
          </a:xfrm>
        </p:spPr>
        <p:txBody>
          <a:bodyPr anchor="b">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8022730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tx1">
                    <a:lumMod val="75000"/>
                    <a:lumOff val="25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082600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028699" y="914400"/>
            <a:ext cx="12882305"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48656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550441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951510" y="914399"/>
            <a:ext cx="1957115" cy="787717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016003" y="914400"/>
            <a:ext cx="10590225" cy="78771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199085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12700"/>
            <a:ext cx="18288000" cy="10299701"/>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1016001" y="914400"/>
            <a:ext cx="12895002" cy="19812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16001" y="3240884"/>
            <a:ext cx="12895002" cy="5821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807700" y="9062044"/>
            <a:ext cx="1367909" cy="547688"/>
          </a:xfrm>
          <a:prstGeom prst="rect">
            <a:avLst/>
          </a:prstGeom>
        </p:spPr>
        <p:txBody>
          <a:bodyPr vert="horz" lIns="91440" tIns="45720" rIns="91440" bIns="45720" rtlCol="0" anchor="ctr"/>
          <a:lstStyle>
            <a:lvl1pPr algn="r">
              <a:defRPr sz="1350">
                <a:solidFill>
                  <a:schemeClr val="tx1">
                    <a:tint val="75000"/>
                  </a:schemeClr>
                </a:solidFill>
              </a:defRPr>
            </a:lvl1pPr>
          </a:lstStyle>
          <a:p>
            <a:fld id="{1D8BD707-D9CF-40AE-B4C6-C98DA3205C09}" type="datetimeFigureOut">
              <a:rPr lang="en-US" smtClean="0"/>
              <a:t>5/7/2026</a:t>
            </a:fld>
            <a:endParaRPr lang="en-US"/>
          </a:p>
        </p:txBody>
      </p:sp>
      <p:sp>
        <p:nvSpPr>
          <p:cNvPr id="5" name="Footer Placeholder 4"/>
          <p:cNvSpPr>
            <a:spLocks noGrp="1"/>
          </p:cNvSpPr>
          <p:nvPr>
            <p:ph type="ftr" sz="quarter" idx="3"/>
          </p:nvPr>
        </p:nvSpPr>
        <p:spPr>
          <a:xfrm>
            <a:off x="1016001" y="9062044"/>
            <a:ext cx="9446418" cy="547688"/>
          </a:xfrm>
          <a:prstGeom prst="rect">
            <a:avLst/>
          </a:prstGeom>
        </p:spPr>
        <p:txBody>
          <a:bodyPr vert="horz" lIns="91440" tIns="45720" rIns="91440" bIns="45720" rtlCol="0" anchor="ctr"/>
          <a:lstStyle>
            <a:lvl1pPr algn="l">
              <a:defRPr sz="13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2885995" y="9062044"/>
            <a:ext cx="1025009" cy="547688"/>
          </a:xfrm>
          <a:prstGeom prst="rect">
            <a:avLst/>
          </a:prstGeom>
        </p:spPr>
        <p:txBody>
          <a:bodyPr vert="horz" lIns="91440" tIns="45720" rIns="91440" bIns="45720" rtlCol="0" anchor="ctr"/>
          <a:lstStyle>
            <a:lvl1pPr algn="r">
              <a:defRPr sz="1350">
                <a:solidFill>
                  <a:schemeClr val="accent1"/>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790536397"/>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 id="2147483826" r:id="rId12"/>
    <p:sldLayoutId id="2147483827" r:id="rId13"/>
    <p:sldLayoutId id="2147483828" r:id="rId14"/>
    <p:sldLayoutId id="2147483829" r:id="rId15"/>
    <p:sldLayoutId id="2147483830" r:id="rId16"/>
  </p:sldLayoutIdLst>
  <p:txStyles>
    <p:titleStyle>
      <a:lvl1pPr algn="l" defTabSz="6858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270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10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6667627" y="1401578"/>
            <a:ext cx="7745095" cy="635000"/>
          </a:xfrm>
          <a:prstGeom prst="rect">
            <a:avLst/>
          </a:prstGeom>
        </p:spPr>
        <p:txBody>
          <a:bodyPr vert="horz" wrap="square" lIns="0" tIns="12065" rIns="0" bIns="0" rtlCol="0">
            <a:spAutoFit/>
          </a:bodyPr>
          <a:lstStyle/>
          <a:p>
            <a:pPr marL="12700">
              <a:lnSpc>
                <a:spcPct val="100000"/>
              </a:lnSpc>
              <a:spcBef>
                <a:spcPts val="95"/>
              </a:spcBef>
            </a:pPr>
            <a:r>
              <a:rPr sz="4000" b="1" spc="-40">
                <a:solidFill>
                  <a:srgbClr val="FFFFFF"/>
                </a:solidFill>
                <a:latin typeface="Arial"/>
                <a:cs typeface="Arial"/>
              </a:rPr>
              <a:t>DEPARTMENT</a:t>
            </a:r>
            <a:r>
              <a:rPr sz="4000" b="1" spc="-15">
                <a:solidFill>
                  <a:srgbClr val="FFFFFF"/>
                </a:solidFill>
                <a:latin typeface="Arial"/>
                <a:cs typeface="Arial"/>
              </a:rPr>
              <a:t> </a:t>
            </a:r>
            <a:r>
              <a:rPr sz="4000" b="1" spc="-5">
                <a:solidFill>
                  <a:srgbClr val="FFFFFF"/>
                </a:solidFill>
                <a:latin typeface="Arial"/>
                <a:cs typeface="Arial"/>
              </a:rPr>
              <a:t>OF</a:t>
            </a:r>
            <a:r>
              <a:rPr sz="4000" b="1">
                <a:solidFill>
                  <a:srgbClr val="FFFFFF"/>
                </a:solidFill>
                <a:latin typeface="Arial"/>
                <a:cs typeface="Arial"/>
              </a:rPr>
              <a:t> </a:t>
            </a:r>
            <a:r>
              <a:rPr sz="4000" b="1" spc="-5">
                <a:solidFill>
                  <a:srgbClr val="FFFFFF"/>
                </a:solidFill>
                <a:latin typeface="Arial"/>
                <a:cs typeface="Arial"/>
              </a:rPr>
              <a:t>ISE,</a:t>
            </a:r>
            <a:r>
              <a:rPr sz="4000" b="1">
                <a:solidFill>
                  <a:srgbClr val="FFFFFF"/>
                </a:solidFill>
                <a:latin typeface="Arial"/>
                <a:cs typeface="Arial"/>
              </a:rPr>
              <a:t> </a:t>
            </a:r>
            <a:r>
              <a:rPr sz="4000" b="1" spc="-10">
                <a:solidFill>
                  <a:srgbClr val="FFFFFF"/>
                </a:solidFill>
                <a:latin typeface="Arial"/>
                <a:cs typeface="Arial"/>
              </a:rPr>
              <a:t>HASSAN</a:t>
            </a:r>
            <a:endParaRPr sz="4000">
              <a:latin typeface="Arial"/>
              <a:cs typeface="Arial"/>
            </a:endParaRPr>
          </a:p>
        </p:txBody>
      </p:sp>
      <p:sp>
        <p:nvSpPr>
          <p:cNvPr id="7" name="object 7"/>
          <p:cNvSpPr txBox="1"/>
          <p:nvPr/>
        </p:nvSpPr>
        <p:spPr>
          <a:xfrm>
            <a:off x="3121883" y="955393"/>
            <a:ext cx="10421495" cy="1010533"/>
          </a:xfrm>
          <a:prstGeom prst="rect">
            <a:avLst/>
          </a:prstGeom>
        </p:spPr>
        <p:txBody>
          <a:bodyPr vert="horz" wrap="square" lIns="0" tIns="12700" rIns="0" bIns="0" rtlCol="0">
            <a:spAutoFit/>
          </a:bodyPr>
          <a:lstStyle/>
          <a:p>
            <a:pPr marL="12700">
              <a:spcBef>
                <a:spcPts val="100"/>
              </a:spcBef>
            </a:pPr>
            <a:r>
              <a:rPr lang="en-US" sz="3200" dirty="0">
                <a:solidFill>
                  <a:srgbClr val="252930"/>
                </a:solidFill>
                <a:latin typeface="Canva Sans"/>
                <a:ea typeface="Canva Sans"/>
                <a:cs typeface="Canva Sans"/>
                <a:sym typeface="Canva Sans"/>
              </a:rPr>
              <a:t>        </a:t>
            </a:r>
            <a:r>
              <a:rPr lang="en-US" sz="3200" dirty="0">
                <a:solidFill>
                  <a:srgbClr val="252930"/>
                </a:solidFill>
                <a:latin typeface="Times New Roman" panose="02020603050405020304" pitchFamily="18" charset="0"/>
                <a:ea typeface="Canva Sans"/>
                <a:cs typeface="Times New Roman" panose="02020603050405020304" pitchFamily="18" charset="0"/>
                <a:sym typeface="Canva Sans"/>
              </a:rPr>
              <a:t>(An Autonomous Institute Affiliated to VTU, Belagavi)</a:t>
            </a:r>
          </a:p>
          <a:p>
            <a:pPr marL="12700">
              <a:lnSpc>
                <a:spcPct val="100000"/>
              </a:lnSpc>
              <a:spcBef>
                <a:spcPts val="100"/>
              </a:spcBef>
            </a:pPr>
            <a:endParaRPr sz="3200" dirty="0">
              <a:latin typeface="Arial"/>
              <a:cs typeface="Arial"/>
            </a:endParaRPr>
          </a:p>
        </p:txBody>
      </p:sp>
      <p:sp>
        <p:nvSpPr>
          <p:cNvPr id="10" name="TextBox 9">
            <a:extLst>
              <a:ext uri="{FF2B5EF4-FFF2-40B4-BE49-F238E27FC236}">
                <a16:creationId xmlns="" xmlns:a16="http://schemas.microsoft.com/office/drawing/2014/main" id="{BD399A3D-3531-77A9-BA5F-92D06C1B8A98}"/>
              </a:ext>
            </a:extLst>
          </p:cNvPr>
          <p:cNvSpPr txBox="1"/>
          <p:nvPr/>
        </p:nvSpPr>
        <p:spPr>
          <a:xfrm>
            <a:off x="-119900" y="76482"/>
            <a:ext cx="16927461" cy="990015"/>
          </a:xfrm>
          <a:prstGeom prst="rect">
            <a:avLst/>
          </a:prstGeom>
          <a:noFill/>
        </p:spPr>
        <p:txBody>
          <a:bodyPr wrap="square">
            <a:spAutoFit/>
          </a:bodyPr>
          <a:lstStyle/>
          <a:p>
            <a:pPr algn="ctr">
              <a:lnSpc>
                <a:spcPts val="6970"/>
              </a:lnSpc>
            </a:pPr>
            <a:r>
              <a:rPr lang="en-US" sz="6600" b="1" dirty="0">
                <a:solidFill>
                  <a:srgbClr val="252930"/>
                </a:solidFill>
                <a:latin typeface="Canva Sans Bold"/>
                <a:ea typeface="Canva Sans Bold"/>
                <a:cs typeface="Canva Sans Bold"/>
                <a:sym typeface="Canva Sans Bold"/>
              </a:rPr>
              <a:t>Malnad College of Engineering    </a:t>
            </a:r>
          </a:p>
        </p:txBody>
      </p:sp>
      <p:sp>
        <p:nvSpPr>
          <p:cNvPr id="13" name="TextBox 12">
            <a:extLst>
              <a:ext uri="{FF2B5EF4-FFF2-40B4-BE49-F238E27FC236}">
                <a16:creationId xmlns="" xmlns:a16="http://schemas.microsoft.com/office/drawing/2014/main" id="{DA0ED1D5-2F78-CF03-3919-E1752CEAFFED}"/>
              </a:ext>
            </a:extLst>
          </p:cNvPr>
          <p:cNvSpPr txBox="1"/>
          <p:nvPr/>
        </p:nvSpPr>
        <p:spPr>
          <a:xfrm>
            <a:off x="2182624" y="9319969"/>
            <a:ext cx="12230098" cy="1277914"/>
          </a:xfrm>
          <a:prstGeom prst="rect">
            <a:avLst/>
          </a:prstGeom>
          <a:noFill/>
        </p:spPr>
        <p:txBody>
          <a:bodyPr wrap="square">
            <a:spAutoFit/>
          </a:bodyPr>
          <a:lstStyle/>
          <a:p>
            <a:pPr algn="ctr">
              <a:lnSpc>
                <a:spcPts val="4803"/>
              </a:lnSpc>
            </a:pPr>
            <a:r>
              <a:rPr lang="en-US" sz="3200" dirty="0">
                <a:solidFill>
                  <a:srgbClr val="252930"/>
                </a:solidFill>
                <a:latin typeface="Canva Sans Bold"/>
                <a:ea typeface="Canva Sans Bold"/>
                <a:cs typeface="Canva Sans Bold"/>
                <a:sym typeface="Canva Sans Bold"/>
              </a:rPr>
              <a:t>Department of Computer Science and Engineering</a:t>
            </a:r>
          </a:p>
          <a:p>
            <a:pPr algn="ctr">
              <a:lnSpc>
                <a:spcPts val="4803"/>
              </a:lnSpc>
            </a:pPr>
            <a:endParaRPr lang="en-US" sz="3200" dirty="0">
              <a:solidFill>
                <a:srgbClr val="252930"/>
              </a:solidFill>
              <a:latin typeface="Canva Sans Bold"/>
              <a:ea typeface="Canva Sans Bold"/>
              <a:cs typeface="Canva Sans Bold"/>
              <a:sym typeface="Canva Sans Bold"/>
            </a:endParaRPr>
          </a:p>
        </p:txBody>
      </p:sp>
      <p:sp>
        <p:nvSpPr>
          <p:cNvPr id="15" name="TextBox 14">
            <a:extLst>
              <a:ext uri="{FF2B5EF4-FFF2-40B4-BE49-F238E27FC236}">
                <a16:creationId xmlns="" xmlns:a16="http://schemas.microsoft.com/office/drawing/2014/main" id="{512D706D-16B5-F113-B7EF-E67F746D6BEC}"/>
              </a:ext>
            </a:extLst>
          </p:cNvPr>
          <p:cNvSpPr txBox="1"/>
          <p:nvPr/>
        </p:nvSpPr>
        <p:spPr>
          <a:xfrm>
            <a:off x="3214060" y="7648820"/>
            <a:ext cx="9144000" cy="728469"/>
          </a:xfrm>
          <a:prstGeom prst="rect">
            <a:avLst/>
          </a:prstGeom>
          <a:noFill/>
        </p:spPr>
        <p:txBody>
          <a:bodyPr wrap="square">
            <a:spAutoFit/>
          </a:bodyPr>
          <a:lstStyle/>
          <a:p>
            <a:pPr algn="ctr">
              <a:lnSpc>
                <a:spcPts val="5371"/>
              </a:lnSpc>
            </a:pPr>
            <a:r>
              <a:rPr lang="en-US" sz="4000" dirty="0">
                <a:solidFill>
                  <a:srgbClr val="252930"/>
                </a:solidFill>
                <a:latin typeface="Canva Sans"/>
                <a:ea typeface="Canva Sans"/>
                <a:cs typeface="Canva Sans"/>
                <a:sym typeface="Canva Sans"/>
              </a:rPr>
              <a:t>       Under the guidance of  </a:t>
            </a:r>
          </a:p>
        </p:txBody>
      </p:sp>
      <p:sp>
        <p:nvSpPr>
          <p:cNvPr id="17" name="TextBox 16">
            <a:extLst>
              <a:ext uri="{FF2B5EF4-FFF2-40B4-BE49-F238E27FC236}">
                <a16:creationId xmlns="" xmlns:a16="http://schemas.microsoft.com/office/drawing/2014/main" id="{9ADF0819-FA99-BD89-E64C-EDFEB85297B4}"/>
              </a:ext>
            </a:extLst>
          </p:cNvPr>
          <p:cNvSpPr txBox="1"/>
          <p:nvPr/>
        </p:nvSpPr>
        <p:spPr>
          <a:xfrm>
            <a:off x="2552702" y="8253935"/>
            <a:ext cx="10247810" cy="1323439"/>
          </a:xfrm>
          <a:prstGeom prst="rect">
            <a:avLst/>
          </a:prstGeom>
          <a:noFill/>
        </p:spPr>
        <p:txBody>
          <a:bodyPr wrap="square">
            <a:spAutoFit/>
          </a:bodyPr>
          <a:lstStyle/>
          <a:p>
            <a:pPr algn="ctr">
              <a:lnSpc>
                <a:spcPts val="4759"/>
              </a:lnSpc>
            </a:pPr>
            <a:r>
              <a:rPr lang="en-US" sz="3200" b="1" smtClean="0">
                <a:solidFill>
                  <a:srgbClr val="252930"/>
                </a:solidFill>
                <a:latin typeface="Canva Sans Bold"/>
                <a:ea typeface="Canva Sans Bold"/>
                <a:cs typeface="Canva Sans Bold"/>
                <a:sym typeface="Canva Sans Bold"/>
              </a:rPr>
              <a:t>         Project Guide</a:t>
            </a:r>
          </a:p>
          <a:p>
            <a:pPr algn="ctr">
              <a:lnSpc>
                <a:spcPts val="4759"/>
              </a:lnSpc>
            </a:pPr>
            <a:r>
              <a:rPr lang="en-US" sz="3200" b="1" smtClean="0">
                <a:solidFill>
                  <a:srgbClr val="252930"/>
                </a:solidFill>
                <a:latin typeface="Canva Sans Bold"/>
                <a:ea typeface="Canva Sans Bold"/>
                <a:cs typeface="Canva Sans Bold"/>
                <a:sym typeface="Canva Sans Bold"/>
              </a:rPr>
              <a:t>        ( Update Name )</a:t>
            </a:r>
            <a:endParaRPr lang="en-US" sz="3200" dirty="0">
              <a:solidFill>
                <a:srgbClr val="252930"/>
              </a:solidFill>
              <a:latin typeface="Canva Sans"/>
              <a:ea typeface="Canva Sans"/>
              <a:cs typeface="Canva Sans"/>
              <a:sym typeface="Canva Sans"/>
            </a:endParaRPr>
          </a:p>
        </p:txBody>
      </p:sp>
      <p:sp>
        <p:nvSpPr>
          <p:cNvPr id="19" name="TextBox 18">
            <a:extLst>
              <a:ext uri="{FF2B5EF4-FFF2-40B4-BE49-F238E27FC236}">
                <a16:creationId xmlns="" xmlns:a16="http://schemas.microsoft.com/office/drawing/2014/main" id="{0004CFEB-FBDE-D0E4-16FA-67C2F68BB228}"/>
              </a:ext>
            </a:extLst>
          </p:cNvPr>
          <p:cNvSpPr txBox="1"/>
          <p:nvPr/>
        </p:nvSpPr>
        <p:spPr>
          <a:xfrm>
            <a:off x="4964116" y="5143500"/>
            <a:ext cx="10528662" cy="2298065"/>
          </a:xfrm>
          <a:prstGeom prst="rect">
            <a:avLst/>
          </a:prstGeom>
          <a:noFill/>
        </p:spPr>
        <p:txBody>
          <a:bodyPr wrap="square">
            <a:spAutoFit/>
          </a:bodyPr>
          <a:lstStyle/>
          <a:p>
            <a:pPr algn="just">
              <a:lnSpc>
                <a:spcPts val="4257"/>
              </a:lnSpc>
            </a:pPr>
            <a:r>
              <a:rPr lang="en-US" sz="1000" spc="36" smtClean="0">
                <a:solidFill>
                  <a:srgbClr val="252930"/>
                </a:solidFill>
                <a:latin typeface="Times New Roman"/>
                <a:ea typeface="Times New Roman"/>
                <a:cs typeface="Times New Roman"/>
                <a:sym typeface="Times New Roman"/>
              </a:rPr>
              <a:t>Update Student 1 (USN)</a:t>
            </a:r>
          </a:p>
          <a:p>
            <a:pPr algn="just">
              <a:lnSpc>
                <a:spcPts val="4257"/>
              </a:lnSpc>
            </a:pPr>
            <a:r>
              <a:rPr lang="en-US" sz="1000" spc="36" smtClean="0">
                <a:solidFill>
                  <a:srgbClr val="252930"/>
                </a:solidFill>
                <a:latin typeface="Times New Roman"/>
                <a:ea typeface="Times New Roman"/>
                <a:cs typeface="Times New Roman"/>
                <a:sym typeface="Times New Roman"/>
              </a:rPr>
              <a:t>Update Student 2 (USN)</a:t>
            </a:r>
          </a:p>
          <a:p>
            <a:pPr algn="just">
              <a:lnSpc>
                <a:spcPts val="4257"/>
              </a:lnSpc>
            </a:pPr>
            <a:r>
              <a:rPr lang="en-US" sz="1000" spc="36" smtClean="0">
                <a:solidFill>
                  <a:srgbClr val="252930"/>
                </a:solidFill>
                <a:latin typeface="Times New Roman"/>
                <a:ea typeface="Times New Roman"/>
                <a:cs typeface="Times New Roman"/>
                <a:sym typeface="Times New Roman"/>
              </a:rPr>
              <a:t>Update Student 3 (USN)</a:t>
            </a:r>
          </a:p>
          <a:p>
            <a:pPr algn="just">
              <a:lnSpc>
                <a:spcPts val="4257"/>
              </a:lnSpc>
            </a:pPr>
            <a:r>
              <a:rPr lang="en-US" sz="1000" spc="36" smtClean="0">
                <a:solidFill>
                  <a:srgbClr val="252930"/>
                </a:solidFill>
                <a:latin typeface="Times New Roman"/>
                <a:ea typeface="Times New Roman"/>
                <a:cs typeface="Times New Roman"/>
                <a:sym typeface="Times New Roman"/>
              </a:rPr>
              <a:t>Update Student 4 (USN)</a:t>
            </a:r>
            <a:endParaRPr lang="en-US"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C34982D7-D85E-EB7A-6382-0C70664A8F82}"/>
              </a:ext>
            </a:extLst>
          </p:cNvPr>
          <p:cNvSpPr txBox="1"/>
          <p:nvPr/>
        </p:nvSpPr>
        <p:spPr>
          <a:xfrm>
            <a:off x="1667476" y="4315742"/>
            <a:ext cx="15327122" cy="1323439"/>
          </a:xfrm>
          <a:prstGeom prst="rect">
            <a:avLst/>
          </a:prstGeom>
          <a:noFill/>
        </p:spPr>
        <p:txBody>
          <a:bodyPr wrap="square">
            <a:spAutoFit/>
          </a:bodyPr>
          <a:lstStyle/>
          <a:p>
            <a:r>
              <a:rPr lang="en-US" sz="4000" b="1" smtClean="0">
                <a:solidFill>
                  <a:srgbClr val="000000"/>
                </a:solidFill>
                <a:latin typeface="Times New Roman Bold"/>
                <a:ea typeface="Times New Roman Bold"/>
                <a:cs typeface="Times New Roman Bold"/>
                <a:sym typeface="Times New Roman Bold"/>
              </a:rPr>
              <a:t>                            MINI PROJECT</a:t>
            </a:r>
          </a:p>
          <a:p>
            <a:r>
              <a:rPr lang="en-US" sz="4000" b="1" smtClean="0">
                <a:solidFill>
                  <a:srgbClr val="000000"/>
                </a:solidFill>
                <a:latin typeface="Times New Roman Bold"/>
                <a:ea typeface="Times New Roman Bold"/>
                <a:cs typeface="Times New Roman Bold"/>
                <a:sym typeface="Times New Roman Bold"/>
              </a:rPr>
              <a:t>               "JAL-SANCHAY TRACKER"</a:t>
            </a:r>
            <a:endParaRPr lang="en-IN" sz="40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7E96099A-29AC-445C-1CE9-DDAD30143D98}"/>
              </a:ext>
            </a:extLst>
          </p:cNvPr>
          <p:cNvSpPr txBox="1"/>
          <p:nvPr/>
        </p:nvSpPr>
        <p:spPr>
          <a:xfrm>
            <a:off x="3280901" y="1881017"/>
            <a:ext cx="9328354" cy="519694"/>
          </a:xfrm>
          <a:prstGeom prst="rect">
            <a:avLst/>
          </a:prstGeom>
          <a:noFill/>
        </p:spPr>
        <p:txBody>
          <a:bodyPr wrap="square">
            <a:spAutoFit/>
          </a:bodyPr>
          <a:lstStyle/>
          <a:p>
            <a:pPr algn="ctr">
              <a:lnSpc>
                <a:spcPts val="3639"/>
              </a:lnSpc>
              <a:spcBef>
                <a:spcPct val="0"/>
              </a:spcBef>
            </a:pPr>
            <a:r>
              <a:rPr lang="en-US" sz="2800" b="1" dirty="0">
                <a:solidFill>
                  <a:srgbClr val="000000"/>
                </a:solidFill>
                <a:latin typeface="Playfair Display Bold"/>
                <a:ea typeface="Playfair Display Bold"/>
                <a:cs typeface="Playfair Display Bold"/>
                <a:sym typeface="Playfair Display Bold"/>
              </a:rPr>
              <a:t>Computer Science and Engineering</a:t>
            </a:r>
          </a:p>
        </p:txBody>
      </p:sp>
      <p:sp>
        <p:nvSpPr>
          <p:cNvPr id="11" name="TextBox 10">
            <a:extLst>
              <a:ext uri="{FF2B5EF4-FFF2-40B4-BE49-F238E27FC236}">
                <a16:creationId xmlns="" xmlns:a16="http://schemas.microsoft.com/office/drawing/2014/main" id="{33BB72A1-6543-ABC9-6CA2-8BDDBB66C2A9}"/>
              </a:ext>
            </a:extLst>
          </p:cNvPr>
          <p:cNvSpPr txBox="1"/>
          <p:nvPr/>
        </p:nvSpPr>
        <p:spPr>
          <a:xfrm>
            <a:off x="5275843" y="1455638"/>
            <a:ext cx="9328354" cy="461665"/>
          </a:xfrm>
          <a:prstGeom prst="rect">
            <a:avLst/>
          </a:prstGeom>
          <a:noFill/>
        </p:spPr>
        <p:txBody>
          <a:bodyPr wrap="square">
            <a:spAutoFit/>
          </a:bodyPr>
          <a:lstStyle/>
          <a:p>
            <a:r>
              <a:rPr lang="en-US" sz="2400" dirty="0">
                <a:solidFill>
                  <a:srgbClr val="000000"/>
                </a:solidFill>
                <a:latin typeface="Times New Roman" panose="02020603050405020304" pitchFamily="18" charset="0"/>
                <a:ea typeface="Playfair Display Bold"/>
                <a:cs typeface="Times New Roman" panose="02020603050405020304" pitchFamily="18" charset="0"/>
                <a:sym typeface="Playfair Display Bold"/>
              </a:rPr>
              <a:t>HASSAN</a:t>
            </a:r>
            <a:r>
              <a:rPr lang="en-US" sz="2400" dirty="0">
                <a:solidFill>
                  <a:srgbClr val="000000"/>
                </a:solidFill>
                <a:latin typeface="Playfair Display Bold"/>
                <a:ea typeface="Playfair Display Bold"/>
                <a:cs typeface="Playfair Display Bold"/>
                <a:sym typeface="Playfair Display Bold"/>
              </a:rPr>
              <a:t>, KARNATAKA 573202, INDIA</a:t>
            </a:r>
            <a:endParaRPr lang="en-IN" sz="2400" dirty="0"/>
          </a:p>
        </p:txBody>
      </p:sp>
      <p:pic>
        <p:nvPicPr>
          <p:cNvPr id="2" name="Picture 1"/>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7104276" y="2690911"/>
            <a:ext cx="1681605" cy="1697567"/>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4" descr="How to Plan a Trip: 7 Easy Tips for Your Next Adventure">
            <a:extLst>
              <a:ext uri="{FF2B5EF4-FFF2-40B4-BE49-F238E27FC236}">
                <a16:creationId xmlns="" xmlns:a16="http://schemas.microsoft.com/office/drawing/2014/main" id="{47C5939C-11CE-4112-CB58-3D1DD63926A6}"/>
              </a:ext>
            </a:extLst>
          </p:cNvPr>
          <p:cNvSpPr>
            <a:spLocks noChangeAspect="1" noChangeArrowheads="1"/>
          </p:cNvSpPr>
          <p:nvPr/>
        </p:nvSpPr>
        <p:spPr bwMode="auto">
          <a:xfrm>
            <a:off x="3672348" y="-328152"/>
            <a:ext cx="5624052" cy="562405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Title 10">
            <a:extLst>
              <a:ext uri="{FF2B5EF4-FFF2-40B4-BE49-F238E27FC236}">
                <a16:creationId xmlns="" xmlns:a16="http://schemas.microsoft.com/office/drawing/2014/main" id="{3E892037-4366-5D62-A313-14AFFE09F357}"/>
              </a:ext>
            </a:extLst>
          </p:cNvPr>
          <p:cNvSpPr>
            <a:spLocks noGrp="1"/>
          </p:cNvSpPr>
          <p:nvPr>
            <p:ph type="title"/>
          </p:nvPr>
        </p:nvSpPr>
        <p:spPr>
          <a:xfrm>
            <a:off x="6484374" y="491447"/>
            <a:ext cx="12895002" cy="1981200"/>
          </a:xfrm>
        </p:spPr>
        <p:txBody>
          <a:bodyPr/>
          <a:lstStyle/>
          <a:p>
            <a:r>
              <a:rPr lang="en-US" b="1" smtClean="0">
                <a:solidFill>
                  <a:schemeClr val="accent2">
                    <a:lumMod val="50000"/>
                  </a:schemeClr>
                </a:solidFill>
                <a:latin typeface="Playfair Display Bold"/>
                <a:ea typeface="Playfair Display Bold"/>
                <a:cs typeface="Playfair Display Bold"/>
                <a:sym typeface="Playfair Display Bold"/>
              </a:rPr>
              <a:t>Contents:</a:t>
            </a:r>
            <a:endParaRPr lang="en-IN" dirty="0">
              <a:solidFill>
                <a:schemeClr val="accent2">
                  <a:lumMod val="50000"/>
                </a:schemeClr>
              </a:solidFill>
            </a:endParaRPr>
          </a:p>
        </p:txBody>
      </p:sp>
      <p:sp>
        <p:nvSpPr>
          <p:cNvPr id="13" name="TextBox 12">
            <a:extLst>
              <a:ext uri="{FF2B5EF4-FFF2-40B4-BE49-F238E27FC236}">
                <a16:creationId xmlns="" xmlns:a16="http://schemas.microsoft.com/office/drawing/2014/main" id="{3785463B-04F0-00C6-3C4F-113371C8793B}"/>
              </a:ext>
            </a:extLst>
          </p:cNvPr>
          <p:cNvSpPr txBox="1"/>
          <p:nvPr/>
        </p:nvSpPr>
        <p:spPr>
          <a:xfrm>
            <a:off x="938086" y="1761214"/>
            <a:ext cx="10441858" cy="8427948"/>
          </a:xfrm>
          <a:prstGeom prst="rect">
            <a:avLst/>
          </a:prstGeom>
          <a:noFill/>
        </p:spPr>
        <p:txBody>
          <a:bodyPr wrap="square">
            <a:spAutoFit/>
          </a:bodyPr>
          <a:lstStyle/>
          <a:p>
            <a:pPr marL="845820" lvl="1" indent="-457200" algn="l">
              <a:lnSpc>
                <a:spcPts val="5040"/>
              </a:lnSpc>
              <a:buFont typeface="Wingdings" panose="05000000000000000000" pitchFamily="2" charset="2"/>
              <a:buChar char="Ø"/>
            </a:pPr>
            <a:r>
              <a:rPr lang="en-US" sz="2800" smtClean="0">
                <a:solidFill>
                  <a:srgbClr val="000000"/>
                </a:solidFill>
                <a:latin typeface="Times New Roman "/>
                <a:ea typeface="Playfair Display"/>
                <a:cs typeface="Playfair Display"/>
                <a:sym typeface="Playfair Display"/>
              </a:rPr>
              <a:t>Abstract</a:t>
            </a:r>
          </a:p>
          <a:p>
            <a:pPr marL="845820" lvl="1" indent="-457200" algn="l">
              <a:lnSpc>
                <a:spcPts val="5040"/>
              </a:lnSpc>
              <a:buFont typeface="Wingdings" panose="05000000000000000000" pitchFamily="2" charset="2"/>
              <a:buChar char="Ø"/>
            </a:pPr>
            <a:r>
              <a:rPr lang="en-US" sz="2800" smtClean="0">
                <a:solidFill>
                  <a:srgbClr val="000000"/>
                </a:solidFill>
                <a:latin typeface="Times New Roman "/>
                <a:ea typeface="Playfair Display"/>
                <a:cs typeface="Playfair Display"/>
                <a:sym typeface="Playfair Display"/>
              </a:rPr>
              <a:t>Aim</a:t>
            </a:r>
          </a:p>
          <a:p>
            <a:pPr marL="845820" lvl="1" indent="-457200" algn="l">
              <a:lnSpc>
                <a:spcPts val="5040"/>
              </a:lnSpc>
              <a:buFont typeface="Wingdings" panose="05000000000000000000" pitchFamily="2" charset="2"/>
              <a:buChar char="Ø"/>
            </a:pPr>
            <a:r>
              <a:rPr lang="en-US" sz="2800" smtClean="0">
                <a:solidFill>
                  <a:srgbClr val="000000"/>
                </a:solidFill>
                <a:latin typeface="Times New Roman "/>
                <a:ea typeface="Playfair Display"/>
                <a:cs typeface="Playfair Display"/>
                <a:sym typeface="Playfair Display"/>
              </a:rPr>
              <a:t>Introduction</a:t>
            </a:r>
          </a:p>
          <a:p>
            <a:pPr marL="845820" lvl="1" indent="-457200" algn="l">
              <a:lnSpc>
                <a:spcPts val="5040"/>
              </a:lnSpc>
              <a:buFont typeface="Wingdings" panose="05000000000000000000" pitchFamily="2" charset="2"/>
              <a:buChar char="Ø"/>
            </a:pPr>
            <a:r>
              <a:rPr lang="en-US" sz="2800" smtClean="0">
                <a:solidFill>
                  <a:srgbClr val="000000"/>
                </a:solidFill>
                <a:latin typeface="Times New Roman "/>
                <a:ea typeface="Playfair Display"/>
                <a:cs typeface="Playfair Display"/>
                <a:sym typeface="Playfair Display"/>
              </a:rPr>
              <a:t>Problem Statement</a:t>
            </a:r>
          </a:p>
          <a:p>
            <a:pPr marL="845820" lvl="1" indent="-457200" algn="l">
              <a:lnSpc>
                <a:spcPts val="5040"/>
              </a:lnSpc>
              <a:buFont typeface="Wingdings" panose="05000000000000000000" pitchFamily="2" charset="2"/>
              <a:buChar char="Ø"/>
            </a:pPr>
            <a:r>
              <a:rPr lang="en-US" sz="2800" smtClean="0">
                <a:solidFill>
                  <a:srgbClr val="000000"/>
                </a:solidFill>
                <a:latin typeface="Times New Roman "/>
                <a:ea typeface="Playfair Display"/>
                <a:cs typeface="Playfair Display"/>
                <a:sym typeface="Playfair Display"/>
              </a:rPr>
              <a:t>Objectives</a:t>
            </a:r>
          </a:p>
          <a:p>
            <a:pPr marL="845820" lvl="1" indent="-457200" algn="l">
              <a:lnSpc>
                <a:spcPts val="5040"/>
              </a:lnSpc>
              <a:buFont typeface="Wingdings" panose="05000000000000000000" pitchFamily="2" charset="2"/>
              <a:buChar char="Ø"/>
            </a:pPr>
            <a:r>
              <a:rPr lang="en-US" sz="2800" smtClean="0">
                <a:solidFill>
                  <a:srgbClr val="000000"/>
                </a:solidFill>
                <a:latin typeface="Times New Roman "/>
                <a:ea typeface="Playfair Display"/>
                <a:cs typeface="Playfair Display"/>
                <a:sym typeface="Playfair Display"/>
              </a:rPr>
              <a:t>Features</a:t>
            </a:r>
          </a:p>
          <a:p>
            <a:pPr marL="845820" lvl="1" indent="-457200" algn="l">
              <a:lnSpc>
                <a:spcPts val="5040"/>
              </a:lnSpc>
              <a:buFont typeface="Wingdings" panose="05000000000000000000" pitchFamily="2" charset="2"/>
              <a:buChar char="Ø"/>
            </a:pPr>
            <a:r>
              <a:rPr lang="en-US" sz="2800" smtClean="0">
                <a:solidFill>
                  <a:srgbClr val="000000"/>
                </a:solidFill>
                <a:latin typeface="Times New Roman "/>
                <a:ea typeface="Playfair Display"/>
                <a:cs typeface="Playfair Display"/>
                <a:sym typeface="Playfair Display"/>
              </a:rPr>
              <a:t>Literature Survey</a:t>
            </a:r>
          </a:p>
          <a:p>
            <a:pPr marL="845820" lvl="1" indent="-457200" algn="l">
              <a:lnSpc>
                <a:spcPts val="5040"/>
              </a:lnSpc>
              <a:buFont typeface="Wingdings" panose="05000000000000000000" pitchFamily="2" charset="2"/>
              <a:buChar char="Ø"/>
            </a:pPr>
            <a:r>
              <a:rPr lang="en-US" sz="2800" smtClean="0">
                <a:solidFill>
                  <a:srgbClr val="000000"/>
                </a:solidFill>
                <a:latin typeface="Times New Roman "/>
                <a:ea typeface="Playfair Display"/>
                <a:cs typeface="Playfair Display"/>
                <a:sym typeface="Playfair Display"/>
              </a:rPr>
              <a:t>Database Design</a:t>
            </a:r>
          </a:p>
          <a:p>
            <a:pPr marL="845820" lvl="1" indent="-457200" algn="l">
              <a:lnSpc>
                <a:spcPts val="5040"/>
              </a:lnSpc>
              <a:buFont typeface="Wingdings" panose="05000000000000000000" pitchFamily="2" charset="2"/>
              <a:buChar char="Ø"/>
            </a:pPr>
            <a:r>
              <a:rPr lang="en-US" sz="2800" smtClean="0">
                <a:solidFill>
                  <a:srgbClr val="000000"/>
                </a:solidFill>
                <a:latin typeface="Times New Roman "/>
                <a:ea typeface="Playfair Display"/>
                <a:cs typeface="Playfair Display"/>
                <a:sym typeface="Playfair Display"/>
              </a:rPr>
              <a:t>Software Requirements</a:t>
            </a:r>
          </a:p>
          <a:p>
            <a:pPr marL="845820" lvl="1" indent="-457200" algn="l">
              <a:lnSpc>
                <a:spcPts val="5040"/>
              </a:lnSpc>
              <a:buFont typeface="Wingdings" panose="05000000000000000000" pitchFamily="2" charset="2"/>
              <a:buChar char="Ø"/>
            </a:pPr>
            <a:r>
              <a:rPr lang="en-US" sz="2800" smtClean="0">
                <a:solidFill>
                  <a:srgbClr val="000000"/>
                </a:solidFill>
                <a:latin typeface="Times New Roman "/>
                <a:ea typeface="Playfair Display"/>
                <a:cs typeface="Playfair Display"/>
                <a:sym typeface="Playfair Display"/>
              </a:rPr>
              <a:t>Hardware Requirements</a:t>
            </a:r>
          </a:p>
          <a:p>
            <a:pPr marL="845820" lvl="1" indent="-457200" algn="l">
              <a:lnSpc>
                <a:spcPts val="5040"/>
              </a:lnSpc>
              <a:buFont typeface="Wingdings" panose="05000000000000000000" pitchFamily="2" charset="2"/>
              <a:buChar char="Ø"/>
            </a:pPr>
            <a:r>
              <a:rPr lang="en-US" sz="2800" smtClean="0">
                <a:solidFill>
                  <a:srgbClr val="000000"/>
                </a:solidFill>
                <a:latin typeface="Times New Roman "/>
                <a:ea typeface="Playfair Display"/>
                <a:cs typeface="Playfair Display"/>
                <a:sym typeface="Playfair Display"/>
              </a:rPr>
              <a:t>Screens</a:t>
            </a:r>
          </a:p>
          <a:p>
            <a:pPr marL="845820" lvl="1" indent="-457200" algn="l">
              <a:lnSpc>
                <a:spcPts val="5040"/>
              </a:lnSpc>
              <a:buFont typeface="Wingdings" panose="05000000000000000000" pitchFamily="2" charset="2"/>
              <a:buChar char="Ø"/>
            </a:pPr>
            <a:r>
              <a:rPr lang="en-US" sz="2800" smtClean="0">
                <a:solidFill>
                  <a:srgbClr val="000000"/>
                </a:solidFill>
                <a:latin typeface="Times New Roman "/>
                <a:ea typeface="Playfair Display"/>
                <a:cs typeface="Playfair Display"/>
                <a:sym typeface="Playfair Display"/>
              </a:rPr>
              <a:t>Conclusion</a:t>
            </a:r>
          </a:p>
          <a:p>
            <a:pPr marL="845820" lvl="1" indent="-457200" algn="l">
              <a:lnSpc>
                <a:spcPts val="5040"/>
              </a:lnSpc>
              <a:buFont typeface="Wingdings" panose="05000000000000000000" pitchFamily="2" charset="2"/>
              <a:buChar char="Ø"/>
            </a:pPr>
            <a:r>
              <a:rPr lang="en-US" sz="2800" smtClean="0">
                <a:solidFill>
                  <a:srgbClr val="000000"/>
                </a:solidFill>
                <a:latin typeface="Times New Roman "/>
                <a:ea typeface="Playfair Display"/>
                <a:cs typeface="Playfair Display"/>
                <a:sym typeface="Playfair Display"/>
              </a:rPr>
              <a:t>References</a:t>
            </a:r>
            <a:endParaRPr lang="en-IN" sz="2800" dirty="0">
              <a:latin typeface="Times New Roman "/>
            </a:endParaRPr>
          </a:p>
        </p:txBody>
      </p:sp>
    </p:spTree>
    <p:extLst>
      <p:ext uri="{BB962C8B-B14F-4D97-AF65-F5344CB8AC3E}">
        <p14:creationId xmlns:p14="http://schemas.microsoft.com/office/powerpoint/2010/main" val="383260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15B976-7D35-54CB-5F33-B9FB0AF3BA7A}"/>
              </a:ext>
            </a:extLst>
          </p:cNvPr>
          <p:cNvSpPr>
            <a:spLocks noGrp="1"/>
          </p:cNvSpPr>
          <p:nvPr>
            <p:ph type="title"/>
          </p:nvPr>
        </p:nvSpPr>
        <p:spPr>
          <a:xfrm>
            <a:off x="573549" y="766916"/>
            <a:ext cx="12895002" cy="1981200"/>
          </a:xfrm>
        </p:spPr>
        <p:txBody>
          <a:bodyPr/>
          <a:lstStyle/>
          <a:p>
            <a:r>
              <a:rPr lang="en-US" b="1" smtClean="0">
                <a:solidFill>
                  <a:srgbClr val="002060"/>
                </a:solidFill>
                <a:latin typeface="Playfair Display Bold"/>
                <a:ea typeface="Playfair Display Bold"/>
                <a:cs typeface="Playfair Display Bold"/>
                <a:sym typeface="Playfair Display Bold"/>
              </a:rPr>
              <a:t>Abstract:</a:t>
            </a:r>
            <a:endParaRPr lang="en-IN" dirty="0"/>
          </a:p>
        </p:txBody>
      </p:sp>
      <p:sp>
        <p:nvSpPr>
          <p:cNvPr id="3" name="Content Placeholder 2">
            <a:extLst>
              <a:ext uri="{FF2B5EF4-FFF2-40B4-BE49-F238E27FC236}">
                <a16:creationId xmlns="" xmlns:a16="http://schemas.microsoft.com/office/drawing/2014/main" id="{A1CF9C13-D82E-0041-F105-387552067E5E}"/>
              </a:ext>
            </a:extLst>
          </p:cNvPr>
          <p:cNvSpPr>
            <a:spLocks noGrp="1"/>
          </p:cNvSpPr>
          <p:nvPr>
            <p:ph idx="1"/>
          </p:nvPr>
        </p:nvSpPr>
        <p:spPr>
          <a:xfrm>
            <a:off x="765278" y="2271252"/>
            <a:ext cx="13732388" cy="8428704"/>
          </a:xfrm>
        </p:spPr>
        <p:txBody>
          <a:bodyPr>
            <a:normAutofit/>
          </a:bodyPr>
          <a:lstStyle/>
          <a:p>
            <a:r>
              <a:rPr lang="en-US" smtClean="0">
                <a:latin typeface="Times New Roman" panose="02020603050405020304" pitchFamily="18" charset="0"/>
                <a:cs typeface="Times New Roman" panose="02020603050405020304" pitchFamily="18" charset="0"/>
              </a:rPr>
              <a:t>Jal-Sanchay Tracker is an Android application developed to help households measure the effectiveness of rainwater harvesting using a simple guided flow. The app is built with Kotlin and Jetpack Compose for the user interface, Room Database for local storage, Hilt for dependency injection, and MVVM for clean architecture. Users first complete a household setup, then enter rainfall values in millimeters. Based on the roof area, tank capacity, and roof material, the app estimates harvested water and presents the result through a live dashboard, tank progress visual, report, impact view, and water-saving tips. The application stores historical rainfall entries locally and updates the dashboard in real time using Room Flow, StateFlow, and Compose recomposition.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0398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ED446C5-46C5-59EB-DCCC-D5FDD4535EEC}"/>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92C098BD-2BC2-FD61-0659-94D137F8A7E5}"/>
              </a:ext>
            </a:extLst>
          </p:cNvPr>
          <p:cNvSpPr>
            <a:spLocks noGrp="1"/>
          </p:cNvSpPr>
          <p:nvPr>
            <p:ph type="title"/>
          </p:nvPr>
        </p:nvSpPr>
        <p:spPr>
          <a:xfrm>
            <a:off x="760185" y="839348"/>
            <a:ext cx="12895002" cy="1981200"/>
          </a:xfrm>
        </p:spPr>
        <p:txBody>
          <a:bodyPr/>
          <a:lstStyle/>
          <a:p>
            <a:r>
              <a:rPr lang="en-US" b="1" smtClean="0">
                <a:solidFill>
                  <a:srgbClr val="002060"/>
                </a:solidFill>
                <a:latin typeface="Playfair Display Bold"/>
                <a:ea typeface="Playfair Display Bold"/>
                <a:cs typeface="Playfair Display Bold"/>
                <a:sym typeface="Playfair Display Bold"/>
              </a:rPr>
              <a:t>Aim:</a:t>
            </a:r>
            <a:endParaRPr lang="en-IN" dirty="0"/>
          </a:p>
        </p:txBody>
      </p:sp>
      <p:sp>
        <p:nvSpPr>
          <p:cNvPr id="3" name="Content Placeholder 2">
            <a:extLst>
              <a:ext uri="{FF2B5EF4-FFF2-40B4-BE49-F238E27FC236}">
                <a16:creationId xmlns="" xmlns:a16="http://schemas.microsoft.com/office/drawing/2014/main" id="{D726BA63-A006-7294-486C-1703F23E6703}"/>
              </a:ext>
            </a:extLst>
          </p:cNvPr>
          <p:cNvSpPr>
            <a:spLocks noGrp="1"/>
          </p:cNvSpPr>
          <p:nvPr>
            <p:ph idx="1"/>
          </p:nvPr>
        </p:nvSpPr>
        <p:spPr>
          <a:xfrm>
            <a:off x="520702" y="2231957"/>
            <a:ext cx="9832665" cy="6527697"/>
          </a:xfrm>
        </p:spPr>
        <p:txBody>
          <a:bodyPr/>
          <a:lstStyle/>
          <a:p>
            <a:pPr marL="0" indent="0">
              <a:buNone/>
            </a:pPr>
            <a:r>
              <a:rPr lang="en-US" smtClean="0">
                <a:latin typeface="Times New Roman" panose="02020603050405020304" pitchFamily="18" charset="0"/>
                <a:cs typeface="Times New Roman" panose="02020603050405020304" pitchFamily="18" charset="0"/>
              </a:rPr>
              <a:t>To design and implement a user-friendly Android application that helps households record rainfall, estimate harvested water, track storage progress, and understand the practical impact of rainwater conservation.</a:t>
            </a:r>
            <a:endParaRPr lang="en-US"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 xmlns:a16="http://schemas.microsoft.com/office/drawing/2014/main" id="{6EEA74E0-4BCA-BF84-0C59-825C49F60313}"/>
              </a:ext>
            </a:extLst>
          </p:cNvPr>
          <p:cNvSpPr>
            <a:spLocks noChangeArrowheads="1"/>
          </p:cNvSpPr>
          <p:nvPr/>
        </p:nvSpPr>
        <p:spPr bwMode="auto">
          <a:xfrm>
            <a:off x="520702" y="5112278"/>
            <a:ext cx="983266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buFont typeface="Wingdings" panose="05000000000000000000" pitchFamily="2" charset="2"/>
              <a:buChar char="Ø"/>
            </a:pPr>
            <a:r>
              <a:rPr lang="en-US" sz="2400" b="1" smtClean="0">
                <a:latin typeface="Times New Roman" panose="02020603050405020304" pitchFamily="18" charset="0"/>
                <a:cs typeface="Times New Roman" panose="02020603050405020304" pitchFamily="18" charset="0"/>
              </a:rPr>
              <a:t>Guided Android flow</a:t>
            </a:r>
          </a:p>
          <a:p>
            <a:pPr marL="285750" lvl="0" indent="-285750">
              <a:buFont typeface="Wingdings" panose="05000000000000000000" pitchFamily="2" charset="2"/>
              <a:buChar char="Ø"/>
            </a:pPr>
            <a:r>
              <a:rPr lang="en-US" sz="2400" b="1" smtClean="0">
                <a:latin typeface="Times New Roman" panose="02020603050405020304" pitchFamily="18" charset="0"/>
                <a:cs typeface="Times New Roman" panose="02020603050405020304" pitchFamily="18" charset="0"/>
              </a:rPr>
              <a:t>Modern Compose UI</a:t>
            </a:r>
          </a:p>
          <a:p>
            <a:pPr marL="285750" lvl="0" indent="-285750">
              <a:buFont typeface="Wingdings" panose="05000000000000000000" pitchFamily="2" charset="2"/>
              <a:buChar char="Ø"/>
            </a:pPr>
            <a:r>
              <a:rPr lang="en-US" sz="2400" b="1" smtClean="0">
                <a:latin typeface="Times New Roman" panose="02020603050405020304" pitchFamily="18" charset="0"/>
                <a:cs typeface="Times New Roman" panose="02020603050405020304" pitchFamily="18" charset="0"/>
              </a:rPr>
              <a:t>Rainfall data validation</a:t>
            </a:r>
          </a:p>
          <a:p>
            <a:pPr marL="285750" lvl="0" indent="-285750">
              <a:buFont typeface="Wingdings" panose="05000000000000000000" pitchFamily="2" charset="2"/>
              <a:buChar char="Ø"/>
            </a:pPr>
            <a:r>
              <a:rPr lang="en-US" sz="2400" b="1" smtClean="0">
                <a:latin typeface="Times New Roman" panose="02020603050405020304" pitchFamily="18" charset="0"/>
                <a:cs typeface="Times New Roman" panose="02020603050405020304" pitchFamily="18" charset="0"/>
              </a:rPr>
              <a:t>Water saving calculation</a:t>
            </a:r>
          </a:p>
          <a:p>
            <a:pPr marL="285750" lvl="0" indent="-285750">
              <a:buFont typeface="Wingdings" panose="05000000000000000000" pitchFamily="2" charset="2"/>
              <a:buChar char="Ø"/>
            </a:pPr>
            <a:r>
              <a:rPr lang="en-US" sz="2400" b="1" smtClean="0">
                <a:latin typeface="Times New Roman" panose="02020603050405020304" pitchFamily="18" charset="0"/>
                <a:cs typeface="Times New Roman" panose="02020603050405020304" pitchFamily="18" charset="0"/>
              </a:rPr>
              <a:t>Room database history</a:t>
            </a:r>
          </a:p>
          <a:p>
            <a:pPr marL="285750" lvl="0" indent="-285750">
              <a:buFont typeface="Wingdings" panose="05000000000000000000" pitchFamily="2" charset="2"/>
              <a:buChar char="Ø"/>
            </a:pPr>
            <a:r>
              <a:rPr lang="en-US" sz="2400" b="1" smtClean="0">
                <a:latin typeface="Times New Roman" panose="02020603050405020304" pitchFamily="18" charset="0"/>
                <a:cs typeface="Times New Roman" panose="02020603050405020304" pitchFamily="18" charset="0"/>
              </a:rPr>
              <a:t>Dashboard and impact tracking</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5121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4438A727-952E-1FFB-4109-8AEE67C5F09F}"/>
              </a:ext>
            </a:extLst>
          </p:cNvPr>
          <p:cNvSpPr txBox="1"/>
          <p:nvPr/>
        </p:nvSpPr>
        <p:spPr>
          <a:xfrm>
            <a:off x="646470" y="473178"/>
            <a:ext cx="16840200" cy="923330"/>
          </a:xfrm>
          <a:prstGeom prst="rect">
            <a:avLst/>
          </a:prstGeom>
          <a:noFill/>
        </p:spPr>
        <p:txBody>
          <a:bodyPr wrap="square">
            <a:spAutoFit/>
          </a:bodyPr>
          <a:lstStyle/>
          <a:p>
            <a:r>
              <a:rPr lang="en-US" sz="5400" b="1" smtClean="0">
                <a:solidFill>
                  <a:srgbClr val="002060"/>
                </a:solidFill>
                <a:latin typeface="Playfair Display Bold" panose="00000800000000000000" pitchFamily="2" charset="0"/>
              </a:rPr>
              <a:t>INTRODUCTION:</a:t>
            </a:r>
            <a:endParaRPr lang="en-US" sz="5400" b="1" dirty="0">
              <a:solidFill>
                <a:srgbClr val="002060"/>
              </a:solidFill>
              <a:latin typeface="Playfair Display Bold" panose="00000800000000000000" pitchFamily="2" charset="0"/>
            </a:endParaRPr>
          </a:p>
        </p:txBody>
      </p:sp>
      <p:sp>
        <p:nvSpPr>
          <p:cNvPr id="3" name="TextBox 2">
            <a:extLst>
              <a:ext uri="{FF2B5EF4-FFF2-40B4-BE49-F238E27FC236}">
                <a16:creationId xmlns="" xmlns:a16="http://schemas.microsoft.com/office/drawing/2014/main" id="{B8255BC9-707B-4495-27A9-4FED65609B72}"/>
              </a:ext>
            </a:extLst>
          </p:cNvPr>
          <p:cNvSpPr txBox="1"/>
          <p:nvPr/>
        </p:nvSpPr>
        <p:spPr>
          <a:xfrm>
            <a:off x="646470" y="1891333"/>
            <a:ext cx="13651421" cy="2677656"/>
          </a:xfrm>
          <a:prstGeom prst="rect">
            <a:avLst/>
          </a:prstGeom>
          <a:noFill/>
        </p:spPr>
        <p:txBody>
          <a:bodyPr wrap="square">
            <a:spAutoFit/>
          </a:bodyPr>
          <a:lstStyle/>
          <a:p>
            <a:r>
              <a:rPr lang="en-US" sz="2400" smtClean="0">
                <a:latin typeface="Times New Roman" panose="02020603050405020304" pitchFamily="18" charset="0"/>
                <a:cs typeface="Times New Roman" panose="02020603050405020304" pitchFamily="18" charset="0"/>
              </a:rPr>
              <a:t>Jal-Sanchay Tracker is a sustainability-focused Android application created to make rainwater harvesting measurable and understandable for everyday users. The app provides a guided journey from setup to rainfall entry, dashboard monitoring, reporting, impact calculation, and practical tips. It is developed using Kotlin, Jetpack Compose, Room Database, Hilt, Coroutines, and MVVM architecture. By storing setup and rainfall data locally and reacting to changes in real time, the app helps users see how much water has been saved, how full their storage tank is, and how many household water days that saving represents. This improves awareness, encourages conservation habits, and makes rainwater harvesting more actionable.</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36C000-D5FE-FD17-642A-F9D14317C12E}"/>
              </a:ext>
            </a:extLst>
          </p:cNvPr>
          <p:cNvSpPr>
            <a:spLocks noGrp="1"/>
          </p:cNvSpPr>
          <p:nvPr>
            <p:ph type="title"/>
          </p:nvPr>
        </p:nvSpPr>
        <p:spPr>
          <a:xfrm>
            <a:off x="308079" y="455581"/>
            <a:ext cx="12895002" cy="1981200"/>
          </a:xfrm>
        </p:spPr>
        <p:txBody>
          <a:bodyPr/>
          <a:lstStyle/>
          <a:p>
            <a:r>
              <a:rPr lang="en-US" b="1" smtClean="0">
                <a:solidFill>
                  <a:srgbClr val="002060"/>
                </a:solidFill>
                <a:latin typeface="Playfair Display Bold"/>
                <a:ea typeface="Playfair Display Bold"/>
                <a:cs typeface="Playfair Display Bold"/>
                <a:sym typeface="Playfair Display Bold"/>
              </a:rPr>
              <a:t>Problem Statement:</a:t>
            </a:r>
            <a:endParaRPr lang="en-IN" dirty="0"/>
          </a:p>
        </p:txBody>
      </p:sp>
      <p:sp>
        <p:nvSpPr>
          <p:cNvPr id="3" name="Content Placeholder 2">
            <a:extLst>
              <a:ext uri="{FF2B5EF4-FFF2-40B4-BE49-F238E27FC236}">
                <a16:creationId xmlns="" xmlns:a16="http://schemas.microsoft.com/office/drawing/2014/main" id="{783C2CDD-A211-015D-8978-AA1B3B38A578}"/>
              </a:ext>
            </a:extLst>
          </p:cNvPr>
          <p:cNvSpPr>
            <a:spLocks noGrp="1"/>
          </p:cNvSpPr>
          <p:nvPr>
            <p:ph idx="1"/>
          </p:nvPr>
        </p:nvSpPr>
        <p:spPr>
          <a:xfrm>
            <a:off x="455562" y="1559566"/>
            <a:ext cx="13787976" cy="6494187"/>
          </a:xfrm>
        </p:spPr>
        <p:txBody>
          <a:bodyPr>
            <a:normAutofit/>
          </a:bodyPr>
          <a:lstStyle/>
          <a:p>
            <a:r>
              <a:rPr lang="en-US" smtClean="0"/>
              <a:t>Many households have rainwater harvesting systems but no simple way to measure whether they are actually effective. Without a clear record of rainfall, roof catchment, and stored water, conservation stays conceptual instead of practical. Manual tracking is inconsistent, calculations are often skipped, and users rarely understand how rainfall translates into daily household impact. In addition, most users need a clean and easy interface rather than a technical system. A mobile application is therefore required to store historical rainfall data, estimate water savings automatically, and present the result through clear visuals such as tank progress, reports, and impact views.</a:t>
            </a:r>
            <a:endParaRPr lang="en-US" dirty="0"/>
          </a:p>
        </p:txBody>
      </p:sp>
    </p:spTree>
    <p:extLst>
      <p:ext uri="{BB962C8B-B14F-4D97-AF65-F5344CB8AC3E}">
        <p14:creationId xmlns:p14="http://schemas.microsoft.com/office/powerpoint/2010/main" val="2765683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bject 3">
            <a:extLst>
              <a:ext uri="{FF2B5EF4-FFF2-40B4-BE49-F238E27FC236}">
                <a16:creationId xmlns="" xmlns:a16="http://schemas.microsoft.com/office/drawing/2014/main" id="{E94D5316-238E-9736-3C87-B44BEB6AFA5E}"/>
              </a:ext>
            </a:extLst>
          </p:cNvPr>
          <p:cNvSpPr txBox="1"/>
          <p:nvPr/>
        </p:nvSpPr>
        <p:spPr>
          <a:xfrm>
            <a:off x="533400" y="2705100"/>
            <a:ext cx="9178290" cy="504625"/>
          </a:xfrm>
          <a:prstGeom prst="rect">
            <a:avLst/>
          </a:prstGeom>
        </p:spPr>
        <p:txBody>
          <a:bodyPr vert="horz" wrap="square" lIns="0" tIns="12065" rIns="0" bIns="0" rtlCol="0">
            <a:spAutoFit/>
          </a:bodyPr>
          <a:lstStyle/>
          <a:p>
            <a:pPr algn="just"/>
            <a:endParaRPr lang="en-US" sz="3200">
              <a:solidFill>
                <a:schemeClr val="bg1"/>
              </a:solidFill>
            </a:endParaRPr>
          </a:p>
        </p:txBody>
      </p:sp>
      <p:sp>
        <p:nvSpPr>
          <p:cNvPr id="4" name="TextBox 3">
            <a:extLst>
              <a:ext uri="{FF2B5EF4-FFF2-40B4-BE49-F238E27FC236}">
                <a16:creationId xmlns="" xmlns:a16="http://schemas.microsoft.com/office/drawing/2014/main" id="{22F38C9F-C5B5-72C9-91F7-AF3CD7917911}"/>
              </a:ext>
            </a:extLst>
          </p:cNvPr>
          <p:cNvSpPr txBox="1"/>
          <p:nvPr/>
        </p:nvSpPr>
        <p:spPr>
          <a:xfrm>
            <a:off x="374388" y="241697"/>
            <a:ext cx="9144000" cy="923330"/>
          </a:xfrm>
          <a:prstGeom prst="rect">
            <a:avLst/>
          </a:prstGeom>
          <a:noFill/>
        </p:spPr>
        <p:txBody>
          <a:bodyPr wrap="square">
            <a:spAutoFit/>
          </a:bodyPr>
          <a:lstStyle/>
          <a:p>
            <a:r>
              <a:rPr lang="en-IN" sz="5400" b="1" smtClean="0">
                <a:solidFill>
                  <a:srgbClr val="002060"/>
                </a:solidFill>
                <a:latin typeface="Times New Roman" panose="02020603050405020304" pitchFamily="18" charset="0"/>
                <a:cs typeface="Times New Roman" panose="02020603050405020304" pitchFamily="18" charset="0"/>
              </a:rPr>
              <a:t>OBJECTIVES:</a:t>
            </a:r>
            <a:endParaRPr lang="en-IN" sz="8000" dirty="0"/>
          </a:p>
        </p:txBody>
      </p:sp>
      <p:sp>
        <p:nvSpPr>
          <p:cNvPr id="5" name="Rectangle 2">
            <a:extLst>
              <a:ext uri="{FF2B5EF4-FFF2-40B4-BE49-F238E27FC236}">
                <a16:creationId xmlns="" xmlns:a16="http://schemas.microsoft.com/office/drawing/2014/main" id="{68A1E87A-D4CD-E72A-7D2D-E9601DDECE82}"/>
              </a:ext>
            </a:extLst>
          </p:cNvPr>
          <p:cNvSpPr>
            <a:spLocks noGrp="1" noChangeArrowheads="1"/>
          </p:cNvSpPr>
          <p:nvPr>
            <p:ph type="title"/>
          </p:nvPr>
        </p:nvSpPr>
        <p:spPr bwMode="auto">
          <a:xfrm>
            <a:off x="533400" y="1958012"/>
            <a:ext cx="12288982"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Simple Setup</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Allow the user to save household details like roof area and tank capacity.</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Rainfall Entry</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Record rainfall values with validation and local storage.</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Live Dashboard</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Show water saved, recent entries, and animated tank progress.</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Monthly Report</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Summarize total and monthly harvested water clearly.</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Impact Score</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Convert litres into understandable household water days.</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User Guidance</a:t>
            </a:r>
            <a:b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Provide practical tips for better rainwater harvesting.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5E92626-BC2F-4156-6C5C-6BAC79DE0BA5}"/>
              </a:ext>
            </a:extLst>
          </p:cNvPr>
          <p:cNvSpPr txBox="1"/>
          <p:nvPr/>
        </p:nvSpPr>
        <p:spPr>
          <a:xfrm>
            <a:off x="324853" y="320659"/>
            <a:ext cx="9658350" cy="923330"/>
          </a:xfrm>
          <a:prstGeom prst="rect">
            <a:avLst/>
          </a:prstGeom>
          <a:noFill/>
        </p:spPr>
        <p:txBody>
          <a:bodyPr wrap="square">
            <a:spAutoFit/>
          </a:bodyPr>
          <a:lstStyle/>
          <a:p>
            <a:r>
              <a:rPr lang="en-IN" sz="5400" b="1" spc="-105" smtClean="0">
                <a:solidFill>
                  <a:srgbClr val="002060"/>
                </a:solidFill>
              </a:rPr>
              <a:t>FEATURES:</a:t>
            </a:r>
            <a:endParaRPr lang="en-IN" sz="5400" dirty="0"/>
          </a:p>
        </p:txBody>
      </p:sp>
      <p:sp>
        <p:nvSpPr>
          <p:cNvPr id="6" name="TextBox 5">
            <a:extLst>
              <a:ext uri="{FF2B5EF4-FFF2-40B4-BE49-F238E27FC236}">
                <a16:creationId xmlns="" xmlns:a16="http://schemas.microsoft.com/office/drawing/2014/main" id="{A287A39E-8F19-FDA9-2C31-D3CBF0A0806D}"/>
              </a:ext>
            </a:extLst>
          </p:cNvPr>
          <p:cNvSpPr txBox="1"/>
          <p:nvPr/>
        </p:nvSpPr>
        <p:spPr>
          <a:xfrm>
            <a:off x="535868" y="1450258"/>
            <a:ext cx="10656971" cy="1384995"/>
          </a:xfrm>
          <a:prstGeom prst="rect">
            <a:avLst/>
          </a:prstGeom>
          <a:noFill/>
        </p:spPr>
        <p:txBody>
          <a:bodyPr wrap="square">
            <a:spAutoFit/>
          </a:bodyPr>
          <a:lstStyle/>
          <a:p>
            <a:pPr algn="just">
              <a:buNone/>
            </a:pPr>
            <a:r>
              <a:rPr lang="en-US" sz="2800" smtClean="0">
                <a:solidFill>
                  <a:schemeClr val="tx1">
                    <a:lumMod val="85000"/>
                    <a:lumOff val="15000"/>
                  </a:schemeClr>
                </a:solidFill>
                <a:latin typeface="Times New Roman "/>
                <a:cs typeface="Arial" panose="020B0604020202020204" pitchFamily="34" charset="0"/>
              </a:rPr>
              <a:t>The application is designed to reduce manual effort and provide meaningful household water insights through a guided Android experience. Major features include:</a:t>
            </a:r>
            <a:endParaRPr lang="en-US" sz="2800" dirty="0">
              <a:solidFill>
                <a:schemeClr val="tx1">
                  <a:lumMod val="85000"/>
                  <a:lumOff val="15000"/>
                </a:schemeClr>
              </a:solidFill>
              <a:latin typeface="Times New Roman "/>
              <a:cs typeface="Arial" panose="020B0604020202020204" pitchFamily="34" charset="0"/>
            </a:endParaRPr>
          </a:p>
        </p:txBody>
      </p:sp>
      <p:sp>
        <p:nvSpPr>
          <p:cNvPr id="5" name="Rectangle 2">
            <a:extLst>
              <a:ext uri="{FF2B5EF4-FFF2-40B4-BE49-F238E27FC236}">
                <a16:creationId xmlns="" xmlns:a16="http://schemas.microsoft.com/office/drawing/2014/main" id="{4E1719F9-E147-EFFB-FBFA-937A74087CA6}"/>
              </a:ext>
            </a:extLst>
          </p:cNvPr>
          <p:cNvSpPr>
            <a:spLocks noChangeArrowheads="1"/>
          </p:cNvSpPr>
          <p:nvPr/>
        </p:nvSpPr>
        <p:spPr bwMode="auto">
          <a:xfrm>
            <a:off x="535868" y="2808030"/>
            <a:ext cx="26943653"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Welcome Screen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Branded entry screen for a guided user experience.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Household Setup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Stores name, roof area, tank capacity, and roof material.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Rainfall Calculation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Converts rainfall into estimated saved water.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Room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Stores historical entries locally on the device.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Live Dashboard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Updates tank progress and summaries in real 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Report and Impact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Shows monthly totals and household water-day impact.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Tips Section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Encourages better conservation practices.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959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466DBD-BAD7-2883-D42E-B1482480FC93}"/>
              </a:ext>
            </a:extLst>
          </p:cNvPr>
          <p:cNvSpPr>
            <a:spLocks noGrp="1"/>
          </p:cNvSpPr>
          <p:nvPr>
            <p:ph type="title"/>
          </p:nvPr>
        </p:nvSpPr>
        <p:spPr>
          <a:xfrm>
            <a:off x="190091" y="234356"/>
            <a:ext cx="12895002" cy="1981200"/>
          </a:xfrm>
        </p:spPr>
        <p:txBody>
          <a:bodyPr/>
          <a:lstStyle/>
          <a:p>
            <a:r>
              <a:rPr lang="en-US" b="1" smtClean="0">
                <a:solidFill>
                  <a:srgbClr val="002060"/>
                </a:solidFill>
                <a:latin typeface="Playfair Display Bold"/>
                <a:ea typeface="Playfair Display Bold"/>
                <a:cs typeface="Playfair Display Bold"/>
                <a:sym typeface="Playfair Display Bold"/>
              </a:rPr>
              <a:t>Literature Survey:</a:t>
            </a:r>
            <a:endParaRPr lang="en-IN" dirty="0"/>
          </a:p>
        </p:txBody>
      </p:sp>
      <p:graphicFrame>
        <p:nvGraphicFramePr>
          <p:cNvPr id="13" name="Content Placeholder 12">
            <a:extLst>
              <a:ext uri="{FF2B5EF4-FFF2-40B4-BE49-F238E27FC236}">
                <a16:creationId xmlns="" xmlns:a16="http://schemas.microsoft.com/office/drawing/2014/main" id="{71F92239-2033-5890-7E9D-767CADBA0650}"/>
              </a:ext>
            </a:extLst>
          </p:cNvPr>
          <p:cNvGraphicFramePr>
            <a:graphicFrameLocks noGrp="1"/>
          </p:cNvGraphicFramePr>
          <p:nvPr>
            <p:ph idx="1"/>
            <p:extLst>
              <p:ext uri="{D42A27DB-BD31-4B8C-83A1-F6EECF244321}">
                <p14:modId xmlns:p14="http://schemas.microsoft.com/office/powerpoint/2010/main" val="1942446287"/>
              </p:ext>
            </p:extLst>
          </p:nvPr>
        </p:nvGraphicFramePr>
        <p:xfrm>
          <a:off x="383458" y="1658076"/>
          <a:ext cx="16975389" cy="8394568"/>
        </p:xfrm>
        <a:graphic>
          <a:graphicData uri="http://schemas.openxmlformats.org/drawingml/2006/table">
            <a:tbl>
              <a:tblPr>
                <a:tableStyleId>{69CF1AB2-1976-4502-BF36-3FF5EA218861}</a:tableStyleId>
              </a:tblPr>
              <a:tblGrid>
                <a:gridCol w="929779">
                  <a:extLst>
                    <a:ext uri="{9D8B030D-6E8A-4147-A177-3AD203B41FA5}">
                      <a16:colId xmlns="" xmlns:a16="http://schemas.microsoft.com/office/drawing/2014/main" val="3449879067"/>
                    </a:ext>
                  </a:extLst>
                </a:gridCol>
                <a:gridCol w="3209122">
                  <a:extLst>
                    <a:ext uri="{9D8B030D-6E8A-4147-A177-3AD203B41FA5}">
                      <a16:colId xmlns="" xmlns:a16="http://schemas.microsoft.com/office/drawing/2014/main" val="1967694750"/>
                    </a:ext>
                  </a:extLst>
                </a:gridCol>
                <a:gridCol w="3209122">
                  <a:extLst>
                    <a:ext uri="{9D8B030D-6E8A-4147-A177-3AD203B41FA5}">
                      <a16:colId xmlns="" xmlns:a16="http://schemas.microsoft.com/office/drawing/2014/main" val="1629894070"/>
                    </a:ext>
                  </a:extLst>
                </a:gridCol>
                <a:gridCol w="3209122">
                  <a:extLst>
                    <a:ext uri="{9D8B030D-6E8A-4147-A177-3AD203B41FA5}">
                      <a16:colId xmlns="" xmlns:a16="http://schemas.microsoft.com/office/drawing/2014/main" val="2880635458"/>
                    </a:ext>
                  </a:extLst>
                </a:gridCol>
                <a:gridCol w="3209122">
                  <a:extLst>
                    <a:ext uri="{9D8B030D-6E8A-4147-A177-3AD203B41FA5}">
                      <a16:colId xmlns="" xmlns:a16="http://schemas.microsoft.com/office/drawing/2014/main" val="2406498054"/>
                    </a:ext>
                  </a:extLst>
                </a:gridCol>
                <a:gridCol w="3209122">
                  <a:extLst>
                    <a:ext uri="{9D8B030D-6E8A-4147-A177-3AD203B41FA5}">
                      <a16:colId xmlns="" xmlns:a16="http://schemas.microsoft.com/office/drawing/2014/main" val="4066033227"/>
                    </a:ext>
                  </a:extLst>
                </a:gridCol>
              </a:tblGrid>
              <a:tr h="456823">
                <a:tc>
                  <a:txBody>
                    <a:bodyPr/>
                    <a:lstStyle/>
                    <a:p>
                      <a:r>
                        <a:rPr lang="en-IN" sz="2800" smtClean="0"/>
                        <a:t>No</a:t>
                      </a:r>
                      <a:endParaRPr lang="en-IN" sz="2800" dirty="0"/>
                    </a:p>
                  </a:txBody>
                  <a:tcPr marL="40984" marR="40984" marT="20492" marB="20492" anchor="ctr"/>
                </a:tc>
                <a:tc>
                  <a:txBody>
                    <a:bodyPr/>
                    <a:lstStyle/>
                    <a:p>
                      <a:r>
                        <a:rPr lang="en-IN" sz="2800" smtClean="0"/>
                        <a:t>Title (Short)</a:t>
                      </a:r>
                      <a:endParaRPr lang="en-IN" sz="2800" dirty="0"/>
                    </a:p>
                  </a:txBody>
                  <a:tcPr marL="40984" marR="40984" marT="20492" marB="20492" anchor="ctr"/>
                </a:tc>
                <a:tc>
                  <a:txBody>
                    <a:bodyPr/>
                    <a:lstStyle/>
                    <a:p>
                      <a:r>
                        <a:rPr lang="en-IN" sz="2800" smtClean="0"/>
                        <a:t>Author(s)</a:t>
                      </a:r>
                      <a:endParaRPr lang="en-IN" sz="2800"/>
                    </a:p>
                  </a:txBody>
                  <a:tcPr marL="40984" marR="40984" marT="20492" marB="20492" anchor="ctr"/>
                </a:tc>
                <a:tc>
                  <a:txBody>
                    <a:bodyPr/>
                    <a:lstStyle/>
                    <a:p>
                      <a:r>
                        <a:rPr lang="en-IN" sz="2800" smtClean="0"/>
                        <a:t>Year</a:t>
                      </a:r>
                      <a:endParaRPr lang="en-IN" sz="2800" dirty="0"/>
                    </a:p>
                  </a:txBody>
                  <a:tcPr marL="40984" marR="40984" marT="20492" marB="20492" anchor="ctr"/>
                </a:tc>
                <a:tc>
                  <a:txBody>
                    <a:bodyPr/>
                    <a:lstStyle/>
                    <a:p>
                      <a:r>
                        <a:rPr lang="en-IN" sz="2800" smtClean="0"/>
                        <a:t>Key Focus</a:t>
                      </a:r>
                      <a:endParaRPr lang="en-IN" sz="2800"/>
                    </a:p>
                  </a:txBody>
                  <a:tcPr marL="40984" marR="40984" marT="20492" marB="20492" anchor="ctr"/>
                </a:tc>
                <a:tc>
                  <a:txBody>
                    <a:bodyPr/>
                    <a:lstStyle/>
                    <a:p>
                      <a:r>
                        <a:rPr lang="en-IN" sz="2800" smtClean="0"/>
                        <a:t>Conclusion</a:t>
                      </a:r>
                      <a:endParaRPr lang="en-IN" sz="2800"/>
                    </a:p>
                  </a:txBody>
                  <a:tcPr marL="40984" marR="40984" marT="20492" marB="20492" anchor="ctr"/>
                </a:tc>
                <a:extLst>
                  <a:ext uri="{0D108BD9-81ED-4DB2-BD59-A6C34878D82A}">
                    <a16:rowId xmlns="" xmlns:a16="http://schemas.microsoft.com/office/drawing/2014/main" val="3420002271"/>
                  </a:ext>
                </a:extLst>
              </a:tr>
              <a:tr h="1290407">
                <a:tc>
                  <a:txBody>
                    <a:bodyPr/>
                    <a:lstStyle/>
                    <a:p>
                      <a:r>
                        <a:rPr lang="en-IN" sz="2800" smtClean="0"/>
                        <a:t>1</a:t>
                      </a:r>
                      <a:endParaRPr lang="en-IN" sz="2800" dirty="0"/>
                    </a:p>
                  </a:txBody>
                  <a:tcPr marL="40984" marR="40984" marT="20492" marB="20492" anchor="ctr"/>
                </a:tc>
                <a:tc>
                  <a:txBody>
                    <a:bodyPr/>
                    <a:lstStyle/>
                    <a:p>
                      <a:r>
                        <a:rPr lang="en-IN" sz="2800" smtClean="0"/>
                        <a:t>Urban Rainwater Harvesting</a:t>
                      </a:r>
                      <a:endParaRPr lang="en-IN" sz="2800" dirty="0"/>
                    </a:p>
                  </a:txBody>
                  <a:tcPr marL="40984" marR="40984" marT="20492" marB="20492" anchor="ctr"/>
                </a:tc>
                <a:tc>
                  <a:txBody>
                    <a:bodyPr/>
                    <a:lstStyle/>
                    <a:p>
                      <a:r>
                        <a:rPr lang="en-IN" sz="2800" smtClean="0"/>
                        <a:t>A. Campisano et al.</a:t>
                      </a:r>
                      <a:endParaRPr lang="en-IN" sz="2800" dirty="0"/>
                    </a:p>
                  </a:txBody>
                  <a:tcPr marL="40984" marR="40984" marT="20492" marB="20492" anchor="ctr"/>
                </a:tc>
                <a:tc>
                  <a:txBody>
                    <a:bodyPr/>
                    <a:lstStyle/>
                    <a:p>
                      <a:r>
                        <a:rPr lang="en-IN" sz="2800" smtClean="0"/>
                        <a:t>2017</a:t>
                      </a:r>
                      <a:endParaRPr lang="en-IN" sz="2800"/>
                    </a:p>
                  </a:txBody>
                  <a:tcPr marL="40984" marR="40984" marT="20492" marB="20492" anchor="ctr"/>
                </a:tc>
                <a:tc>
                  <a:txBody>
                    <a:bodyPr/>
                    <a:lstStyle/>
                    <a:p>
                      <a:r>
                        <a:rPr lang="en-US" sz="2800" smtClean="0"/>
                        <a:t>Domestic rainwater reuse systems</a:t>
                      </a:r>
                      <a:endParaRPr lang="en-US" sz="2800"/>
                    </a:p>
                  </a:txBody>
                  <a:tcPr marL="40984" marR="40984" marT="20492" marB="20492" anchor="ctr"/>
                </a:tc>
                <a:tc>
                  <a:txBody>
                    <a:bodyPr/>
                    <a:lstStyle/>
                    <a:p>
                      <a:r>
                        <a:rPr lang="en-US" sz="2800" smtClean="0"/>
                        <a:t>Monitoring and storage design improve household water efficiency</a:t>
                      </a:r>
                      <a:endParaRPr lang="en-US" sz="2800" dirty="0"/>
                    </a:p>
                  </a:txBody>
                  <a:tcPr marL="40984" marR="40984" marT="20492" marB="20492" anchor="ctr"/>
                </a:tc>
                <a:extLst>
                  <a:ext uri="{0D108BD9-81ED-4DB2-BD59-A6C34878D82A}">
                    <a16:rowId xmlns="" xmlns:a16="http://schemas.microsoft.com/office/drawing/2014/main" val="1704889487"/>
                  </a:ext>
                </a:extLst>
              </a:tr>
              <a:tr h="1290407">
                <a:tc>
                  <a:txBody>
                    <a:bodyPr/>
                    <a:lstStyle/>
                    <a:p>
                      <a:r>
                        <a:rPr lang="en-IN" sz="2800" smtClean="0"/>
                        <a:t>2</a:t>
                      </a:r>
                      <a:endParaRPr lang="en-IN" sz="2800" dirty="0"/>
                    </a:p>
                  </a:txBody>
                  <a:tcPr marL="40984" marR="40984" marT="20492" marB="20492" anchor="ctr"/>
                </a:tc>
                <a:tc>
                  <a:txBody>
                    <a:bodyPr/>
                    <a:lstStyle/>
                    <a:p>
                      <a:r>
                        <a:rPr lang="en-IN" sz="2800" smtClean="0"/>
                        <a:t>Rainwater Quality and Use</a:t>
                      </a:r>
                      <a:endParaRPr lang="en-IN" sz="2800" dirty="0"/>
                    </a:p>
                  </a:txBody>
                  <a:tcPr marL="40984" marR="40984" marT="20492" marB="20492" anchor="ctr"/>
                </a:tc>
                <a:tc>
                  <a:txBody>
                    <a:bodyPr/>
                    <a:lstStyle/>
                    <a:p>
                      <a:r>
                        <a:rPr lang="fr-FR" sz="2800" smtClean="0"/>
                        <a:t>M. S. Islam et al.</a:t>
                      </a:r>
                      <a:endParaRPr lang="en-IN" sz="2800" dirty="0"/>
                    </a:p>
                  </a:txBody>
                  <a:tcPr marL="40984" marR="40984" marT="20492" marB="20492" anchor="ctr"/>
                </a:tc>
                <a:tc>
                  <a:txBody>
                    <a:bodyPr/>
                    <a:lstStyle/>
                    <a:p>
                      <a:r>
                        <a:rPr lang="en-IN" sz="2800" smtClean="0"/>
                        <a:t>2010</a:t>
                      </a:r>
                      <a:endParaRPr lang="en-IN" sz="2800" dirty="0"/>
                    </a:p>
                  </a:txBody>
                  <a:tcPr marL="40984" marR="40984" marT="20492" marB="20492" anchor="ctr"/>
                </a:tc>
                <a:tc>
                  <a:txBody>
                    <a:bodyPr/>
                    <a:lstStyle/>
                    <a:p>
                      <a:r>
                        <a:rPr lang="en-IN" sz="2800" smtClean="0"/>
                        <a:t>Usability of rooftop-harvested rainwater</a:t>
                      </a:r>
                      <a:endParaRPr lang="en-IN" sz="2800"/>
                    </a:p>
                  </a:txBody>
                  <a:tcPr marL="40984" marR="40984" marT="20492" marB="20492" anchor="ctr"/>
                </a:tc>
                <a:tc>
                  <a:txBody>
                    <a:bodyPr/>
                    <a:lstStyle/>
                    <a:p>
                      <a:r>
                        <a:rPr lang="en-US" sz="2800" smtClean="0"/>
                        <a:t>Proper collection and storage make rainwater a valuable local resource</a:t>
                      </a:r>
                      <a:endParaRPr lang="en-US" sz="2800" dirty="0"/>
                    </a:p>
                  </a:txBody>
                  <a:tcPr marL="40984" marR="40984" marT="20492" marB="20492" anchor="ctr"/>
                </a:tc>
                <a:extLst>
                  <a:ext uri="{0D108BD9-81ED-4DB2-BD59-A6C34878D82A}">
                    <a16:rowId xmlns="" xmlns:a16="http://schemas.microsoft.com/office/drawing/2014/main" val="2416005904"/>
                  </a:ext>
                </a:extLst>
              </a:tr>
              <a:tr h="1290407">
                <a:tc>
                  <a:txBody>
                    <a:bodyPr/>
                    <a:lstStyle/>
                    <a:p>
                      <a:r>
                        <a:rPr lang="en-IN" sz="2800" smtClean="0"/>
                        <a:t>3</a:t>
                      </a:r>
                      <a:endParaRPr lang="en-IN" sz="2800" dirty="0"/>
                    </a:p>
                  </a:txBody>
                  <a:tcPr marL="40984" marR="40984" marT="20492" marB="20492" anchor="ctr"/>
                </a:tc>
                <a:tc>
                  <a:txBody>
                    <a:bodyPr/>
                    <a:lstStyle/>
                    <a:p>
                      <a:r>
                        <a:rPr lang="en-IN" sz="2800" smtClean="0"/>
                        <a:t>Smart Water Monitoring</a:t>
                      </a:r>
                      <a:endParaRPr lang="en-IN" sz="2800"/>
                    </a:p>
                  </a:txBody>
                  <a:tcPr marL="40984" marR="40984" marT="20492" marB="20492" anchor="ctr"/>
                </a:tc>
                <a:tc>
                  <a:txBody>
                    <a:bodyPr/>
                    <a:lstStyle/>
                    <a:p>
                      <a:r>
                        <a:rPr lang="da-DK" sz="2800" smtClean="0"/>
                        <a:t>R. K. Kodali et al.</a:t>
                      </a:r>
                      <a:endParaRPr lang="en-IN" sz="2800" dirty="0"/>
                    </a:p>
                  </a:txBody>
                  <a:tcPr marL="40984" marR="40984" marT="20492" marB="20492" anchor="ctr"/>
                </a:tc>
                <a:tc>
                  <a:txBody>
                    <a:bodyPr/>
                    <a:lstStyle/>
                    <a:p>
                      <a:r>
                        <a:rPr lang="en-IN" sz="2800" smtClean="0"/>
                        <a:t>2018</a:t>
                      </a:r>
                      <a:endParaRPr lang="en-IN" sz="2800" dirty="0"/>
                    </a:p>
                  </a:txBody>
                  <a:tcPr marL="40984" marR="40984" marT="20492" marB="20492" anchor="ctr"/>
                </a:tc>
                <a:tc>
                  <a:txBody>
                    <a:bodyPr/>
                    <a:lstStyle/>
                    <a:p>
                      <a:r>
                        <a:rPr lang="en-US" sz="2800" smtClean="0"/>
                        <a:t>IoT-based water level and usage tracking</a:t>
                      </a:r>
                      <a:endParaRPr lang="en-US" sz="2800" dirty="0"/>
                    </a:p>
                  </a:txBody>
                  <a:tcPr marL="40984" marR="40984" marT="20492" marB="20492" anchor="ctr"/>
                </a:tc>
                <a:tc>
                  <a:txBody>
                    <a:bodyPr/>
                    <a:lstStyle/>
                    <a:p>
                      <a:r>
                        <a:rPr lang="en-US" sz="2800" smtClean="0"/>
                        <a:t>Real-time tracking increases awareness and better decision-making</a:t>
                      </a:r>
                      <a:endParaRPr lang="en-US" sz="2800"/>
                    </a:p>
                  </a:txBody>
                  <a:tcPr marL="40984" marR="40984" marT="20492" marB="20492" anchor="ctr"/>
                </a:tc>
                <a:extLst>
                  <a:ext uri="{0D108BD9-81ED-4DB2-BD59-A6C34878D82A}">
                    <a16:rowId xmlns="" xmlns:a16="http://schemas.microsoft.com/office/drawing/2014/main" val="4056942209"/>
                  </a:ext>
                </a:extLst>
              </a:tr>
              <a:tr h="873615">
                <a:tc>
                  <a:txBody>
                    <a:bodyPr/>
                    <a:lstStyle/>
                    <a:p>
                      <a:r>
                        <a:rPr lang="en-IN" sz="2800" smtClean="0"/>
                        <a:t>4</a:t>
                      </a:r>
                      <a:endParaRPr lang="en-IN" sz="2800" dirty="0"/>
                    </a:p>
                  </a:txBody>
                  <a:tcPr marL="40984" marR="40984" marT="20492" marB="20492" anchor="ctr"/>
                </a:tc>
                <a:tc>
                  <a:txBody>
                    <a:bodyPr/>
                    <a:lstStyle/>
                    <a:p>
                      <a:r>
                        <a:rPr lang="en-IN" sz="2800" smtClean="0"/>
                        <a:t>Sustainable Urban Water Systems</a:t>
                      </a:r>
                      <a:endParaRPr lang="en-IN" sz="2800" dirty="0"/>
                    </a:p>
                  </a:txBody>
                  <a:tcPr marL="40984" marR="40984" marT="20492" marB="20492" anchor="ctr"/>
                </a:tc>
                <a:tc>
                  <a:txBody>
                    <a:bodyPr/>
                    <a:lstStyle/>
                    <a:p>
                      <a:r>
                        <a:rPr lang="en-IN" sz="2800" smtClean="0"/>
                        <a:t>M. Sharma, P. Kansal</a:t>
                      </a:r>
                      <a:endParaRPr lang="en-IN" sz="2800" dirty="0"/>
                    </a:p>
                  </a:txBody>
                  <a:tcPr marL="40984" marR="40984" marT="20492" marB="20492" anchor="ctr"/>
                </a:tc>
                <a:tc>
                  <a:txBody>
                    <a:bodyPr/>
                    <a:lstStyle/>
                    <a:p>
                      <a:r>
                        <a:rPr lang="en-IN" sz="2800" smtClean="0"/>
                        <a:t>2013</a:t>
                      </a:r>
                      <a:endParaRPr lang="en-IN" sz="2800" dirty="0"/>
                    </a:p>
                  </a:txBody>
                  <a:tcPr marL="40984" marR="40984" marT="20492" marB="20492" anchor="ctr"/>
                </a:tc>
                <a:tc>
                  <a:txBody>
                    <a:bodyPr/>
                    <a:lstStyle/>
                    <a:p>
                      <a:r>
                        <a:rPr lang="en-US" sz="2800" smtClean="0"/>
                        <a:t>Rainwater harvesting in Indian cities</a:t>
                      </a:r>
                      <a:endParaRPr lang="en-US" sz="2800" dirty="0"/>
                    </a:p>
                  </a:txBody>
                  <a:tcPr marL="40984" marR="40984" marT="20492" marB="20492" anchor="ctr"/>
                </a:tc>
                <a:tc>
                  <a:txBody>
                    <a:bodyPr/>
                    <a:lstStyle/>
                    <a:p>
                      <a:r>
                        <a:rPr lang="en-US" sz="2800" smtClean="0"/>
                        <a:t>Local harvesting supports sustainability and reduces dependency on municipal supply</a:t>
                      </a:r>
                      <a:endParaRPr lang="en-IN" sz="2800" dirty="0"/>
                    </a:p>
                  </a:txBody>
                  <a:tcPr marL="40984" marR="40984" marT="20492" marB="20492" anchor="ctr"/>
                </a:tc>
                <a:extLst>
                  <a:ext uri="{0D108BD9-81ED-4DB2-BD59-A6C34878D82A}">
                    <a16:rowId xmlns="" xmlns:a16="http://schemas.microsoft.com/office/drawing/2014/main" val="2194598874"/>
                  </a:ext>
                </a:extLst>
              </a:tr>
              <a:tr h="1290407">
                <a:tc>
                  <a:txBody>
                    <a:bodyPr/>
                    <a:lstStyle/>
                    <a:p>
                      <a:r>
                        <a:rPr lang="en-IN" sz="2800" smtClean="0"/>
                        <a:t>5</a:t>
                      </a:r>
                      <a:endParaRPr lang="en-IN" sz="2800" dirty="0"/>
                    </a:p>
                  </a:txBody>
                  <a:tcPr marL="40984" marR="40984" marT="20492" marB="20492" anchor="ctr"/>
                </a:tc>
                <a:tc>
                  <a:txBody>
                    <a:bodyPr/>
                    <a:lstStyle/>
                    <a:p>
                      <a:r>
                        <a:rPr lang="en-IN" sz="2800" smtClean="0"/>
                        <a:t>Decision Support for Harvesting</a:t>
                      </a:r>
                      <a:endParaRPr lang="en-IN" sz="2800" dirty="0"/>
                    </a:p>
                  </a:txBody>
                  <a:tcPr marL="40984" marR="40984" marT="20492" marB="20492" anchor="ctr"/>
                </a:tc>
                <a:tc>
                  <a:txBody>
                    <a:bodyPr/>
                    <a:lstStyle/>
                    <a:p>
                      <a:r>
                        <a:rPr lang="en-IN" sz="2800" smtClean="0"/>
                        <a:t>J. Liaw, Y. Tsai</a:t>
                      </a:r>
                      <a:endParaRPr lang="en-IN" sz="2800" dirty="0"/>
                    </a:p>
                  </a:txBody>
                  <a:tcPr marL="40984" marR="40984" marT="20492" marB="20492" anchor="ctr"/>
                </a:tc>
                <a:tc>
                  <a:txBody>
                    <a:bodyPr/>
                    <a:lstStyle/>
                    <a:p>
                      <a:r>
                        <a:rPr lang="en-IN" sz="2800" smtClean="0"/>
                        <a:t>2004</a:t>
                      </a:r>
                      <a:endParaRPr lang="en-IN" sz="2800" dirty="0"/>
                    </a:p>
                  </a:txBody>
                  <a:tcPr marL="40984" marR="40984" marT="20492" marB="20492" anchor="ctr"/>
                </a:tc>
                <a:tc>
                  <a:txBody>
                    <a:bodyPr/>
                    <a:lstStyle/>
                    <a:p>
                      <a:r>
                        <a:rPr lang="en-US" sz="2800" smtClean="0"/>
                        <a:t>Storage sizing and rainfall data use</a:t>
                      </a:r>
                      <a:endParaRPr lang="en-IN" sz="2800" dirty="0"/>
                    </a:p>
                  </a:txBody>
                  <a:tcPr marL="40984" marR="40984" marT="20492" marB="20492" anchor="ctr"/>
                </a:tc>
                <a:tc>
                  <a:txBody>
                    <a:bodyPr/>
                    <a:lstStyle/>
                    <a:p>
                      <a:r>
                        <a:rPr lang="en-US" sz="2800" smtClean="0"/>
                        <a:t>Historical rainfall analysis is essential for effective harvesting systems</a:t>
                      </a:r>
                      <a:endParaRPr lang="en-US" sz="2800" dirty="0"/>
                    </a:p>
                  </a:txBody>
                  <a:tcPr marL="40984" marR="40984" marT="20492" marB="20492" anchor="ctr"/>
                </a:tc>
                <a:extLst>
                  <a:ext uri="{0D108BD9-81ED-4DB2-BD59-A6C34878D82A}">
                    <a16:rowId xmlns="" xmlns:a16="http://schemas.microsoft.com/office/drawing/2014/main" val="18613799"/>
                  </a:ext>
                </a:extLst>
              </a:tr>
              <a:tr h="1707199">
                <a:tc>
                  <a:txBody>
                    <a:bodyPr/>
                    <a:lstStyle/>
                    <a:p>
                      <a:r>
                        <a:rPr lang="en-IN" sz="2800" smtClean="0"/>
                        <a:t>6</a:t>
                      </a:r>
                      <a:endParaRPr lang="en-IN" sz="2800" dirty="0"/>
                    </a:p>
                  </a:txBody>
                  <a:tcPr marL="40984" marR="40984" marT="20492" marB="20492" anchor="ctr"/>
                </a:tc>
                <a:tc>
                  <a:txBody>
                    <a:bodyPr/>
                    <a:lstStyle/>
                    <a:p>
                      <a:r>
                        <a:rPr lang="en-IN" sz="2800" smtClean="0"/>
                        <a:t>Household Conservation Behaviour</a:t>
                      </a:r>
                      <a:endParaRPr lang="en-IN" sz="2800" dirty="0"/>
                    </a:p>
                  </a:txBody>
                  <a:tcPr marL="40984" marR="40984" marT="20492" marB="20492" anchor="ctr"/>
                </a:tc>
                <a:tc>
                  <a:txBody>
                    <a:bodyPr/>
                    <a:lstStyle/>
                    <a:p>
                      <a:r>
                        <a:rPr lang="en-IN" sz="2800" smtClean="0"/>
                        <a:t>S. Willis et al.</a:t>
                      </a:r>
                      <a:endParaRPr lang="en-IN" sz="2800" dirty="0"/>
                    </a:p>
                  </a:txBody>
                  <a:tcPr marL="40984" marR="40984" marT="20492" marB="20492" anchor="ctr"/>
                </a:tc>
                <a:tc>
                  <a:txBody>
                    <a:bodyPr/>
                    <a:lstStyle/>
                    <a:p>
                      <a:r>
                        <a:rPr lang="en-IN" sz="2800" smtClean="0"/>
                        <a:t>2011</a:t>
                      </a:r>
                      <a:endParaRPr lang="en-IN" sz="2800" dirty="0"/>
                    </a:p>
                  </a:txBody>
                  <a:tcPr marL="40984" marR="40984" marT="20492" marB="20492" anchor="ctr"/>
                </a:tc>
                <a:tc>
                  <a:txBody>
                    <a:bodyPr/>
                    <a:lstStyle/>
                    <a:p>
                      <a:r>
                        <a:rPr lang="en-US" sz="2800" smtClean="0"/>
                        <a:t>How feedback changes water use</a:t>
                      </a:r>
                      <a:endParaRPr lang="en-IN" sz="2800" dirty="0"/>
                    </a:p>
                  </a:txBody>
                  <a:tcPr marL="40984" marR="40984" marT="20492" marB="20492" anchor="ctr"/>
                </a:tc>
                <a:tc>
                  <a:txBody>
                    <a:bodyPr/>
                    <a:lstStyle/>
                    <a:p>
                      <a:r>
                        <a:rPr lang="fr-FR" sz="2800" smtClean="0"/>
                        <a:t>Visible usage feedback encourages long-term conservation habits</a:t>
                      </a:r>
                      <a:endParaRPr lang="fr-FR" sz="2800" dirty="0"/>
                    </a:p>
                  </a:txBody>
                  <a:tcPr marL="40984" marR="40984" marT="20492" marB="20492" anchor="ctr"/>
                </a:tc>
                <a:extLst>
                  <a:ext uri="{0D108BD9-81ED-4DB2-BD59-A6C34878D82A}">
                    <a16:rowId xmlns="" xmlns:a16="http://schemas.microsoft.com/office/drawing/2014/main" val="1403250547"/>
                  </a:ext>
                </a:extLst>
              </a:tr>
            </a:tbl>
          </a:graphicData>
        </a:graphic>
      </p:graphicFrame>
    </p:spTree>
    <p:extLst>
      <p:ext uri="{BB962C8B-B14F-4D97-AF65-F5344CB8AC3E}">
        <p14:creationId xmlns:p14="http://schemas.microsoft.com/office/powerpoint/2010/main" val="793840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F662A4-B62F-C9D2-1D44-CBAA4EDBCB5E}"/>
              </a:ext>
            </a:extLst>
          </p:cNvPr>
          <p:cNvSpPr>
            <a:spLocks noGrp="1"/>
          </p:cNvSpPr>
          <p:nvPr>
            <p:ph type="title"/>
          </p:nvPr>
        </p:nvSpPr>
        <p:spPr>
          <a:xfrm>
            <a:off x="245806" y="396092"/>
            <a:ext cx="15773400" cy="1988345"/>
          </a:xfrm>
        </p:spPr>
        <p:txBody>
          <a:bodyPr>
            <a:normAutofit/>
          </a:bodyPr>
          <a:lstStyle/>
          <a:p>
            <a:r>
              <a:rPr lang="en-US" b="1" smtClean="0">
                <a:solidFill>
                  <a:srgbClr val="002060"/>
                </a:solidFill>
                <a:latin typeface="Playfair Display Bold"/>
                <a:ea typeface="Playfair Display Bold"/>
                <a:cs typeface="Playfair Display Bold"/>
                <a:sym typeface="Playfair Display Bold"/>
              </a:rPr>
              <a:t>Database Design:</a:t>
            </a:r>
            <a:endParaRPr lang="en-IN" sz="5400" b="1" dirty="0"/>
          </a:p>
        </p:txBody>
      </p:sp>
      <p:sp>
        <p:nvSpPr>
          <p:cNvPr id="3" name="Content Placeholder 2"/>
          <p:cNvSpPr>
            <a:spLocks noGrp="1"/>
          </p:cNvSpPr>
          <p:nvPr>
            <p:ph idx="1"/>
          </p:nvPr>
        </p:nvSpPr>
        <p:spPr/>
        <p:txBody>
          <a:bodyPr/>
          <a:lstStyle/>
          <a:p>
            <a:endParaRPr lang="en-IN"/>
          </a:p>
        </p:txBody>
      </p:sp>
      <p:sp>
        <p:nvSpPr>
          <p:cNvPr id="6" name="Rectangle 5"/>
          <p:cNvSpPr/>
          <p:nvPr/>
        </p:nvSpPr>
        <p:spPr>
          <a:xfrm>
            <a:off x="889000" y="2286000"/>
            <a:ext cx="2921000" cy="1524000"/>
          </a:xfrm>
          <a:prstGeom prst="rect">
            <a:avLst/>
          </a:prstGeom>
          <a:solidFill>
            <a:srgbClr val="FFFFFF"/>
          </a:solidFill>
          <a:ln>
            <a:solidFill>
              <a:srgbClr val="8B8B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user_infrastructure</a:t>
            </a:r>
          </a:p>
          <a:p>
            <a:pPr algn="ctr"/>
            <a:r>
              <a:rPr lang="en-US" b="1" smtClean="0"/>
              <a:t>Name / user id</a:t>
            </a:r>
          </a:p>
          <a:p>
            <a:pPr algn="ctr"/>
            <a:r>
              <a:rPr lang="en-US" b="1" smtClean="0"/>
              <a:t>Roof area</a:t>
            </a:r>
          </a:p>
          <a:p>
            <a:pPr algn="ctr"/>
            <a:r>
              <a:rPr lang="en-US" b="1" smtClean="0"/>
              <a:t>Tank capacity</a:t>
            </a:r>
          </a:p>
          <a:p>
            <a:pPr algn="ctr"/>
            <a:r>
              <a:rPr lang="en-US" b="1" smtClean="0"/>
              <a:t>Roof material</a:t>
            </a:r>
            <a:endParaRPr lang="en-IN" b="1"/>
          </a:p>
        </p:txBody>
      </p:sp>
      <p:sp>
        <p:nvSpPr>
          <p:cNvPr id="7" name="Rectangle 6"/>
          <p:cNvSpPr/>
          <p:nvPr/>
        </p:nvSpPr>
        <p:spPr>
          <a:xfrm>
            <a:off x="4572000" y="2286000"/>
            <a:ext cx="2921000" cy="1524000"/>
          </a:xfrm>
          <a:prstGeom prst="rect">
            <a:avLst/>
          </a:prstGeom>
          <a:solidFill>
            <a:srgbClr val="FFFFFF"/>
          </a:solidFill>
          <a:ln>
            <a:solidFill>
              <a:srgbClr val="8B8B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rainfall_log</a:t>
            </a:r>
          </a:p>
          <a:p>
            <a:pPr algn="ctr"/>
            <a:r>
              <a:rPr lang="en-US" b="1" smtClean="0"/>
              <a:t>Rainfall (mm)</a:t>
            </a:r>
          </a:p>
          <a:p>
            <a:pPr algn="ctr"/>
            <a:r>
              <a:rPr lang="en-US" b="1" smtClean="0"/>
              <a:t>Saved litres</a:t>
            </a:r>
          </a:p>
          <a:p>
            <a:pPr algn="ctr"/>
            <a:r>
              <a:rPr lang="en-US" b="1" smtClean="0"/>
              <a:t>Timestamp</a:t>
            </a:r>
          </a:p>
          <a:p>
            <a:pPr algn="ctr"/>
            <a:r>
              <a:rPr lang="en-US" b="1" smtClean="0"/>
              <a:t>Historical entries</a:t>
            </a:r>
            <a:endParaRPr lang="en-IN" b="1"/>
          </a:p>
        </p:txBody>
      </p:sp>
      <p:sp>
        <p:nvSpPr>
          <p:cNvPr id="8" name="Rectangle 7"/>
          <p:cNvSpPr/>
          <p:nvPr/>
        </p:nvSpPr>
        <p:spPr>
          <a:xfrm>
            <a:off x="8255000" y="2286000"/>
            <a:ext cx="2921000" cy="1524000"/>
          </a:xfrm>
          <a:prstGeom prst="rect">
            <a:avLst/>
          </a:prstGeom>
          <a:solidFill>
            <a:srgbClr val="FFFFFF"/>
          </a:solidFill>
          <a:ln>
            <a:solidFill>
              <a:srgbClr val="8B8B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monthly_report_cache</a:t>
            </a:r>
          </a:p>
          <a:p>
            <a:pPr algn="ctr"/>
            <a:r>
              <a:rPr lang="en-US" b="1" smtClean="0"/>
              <a:t>Monthly totals</a:t>
            </a:r>
          </a:p>
          <a:p>
            <a:pPr algn="ctr"/>
            <a:r>
              <a:rPr lang="en-US" b="1" smtClean="0"/>
              <a:t>Cached reporting values</a:t>
            </a:r>
            <a:endParaRPr lang="en-IN" b="1"/>
          </a:p>
        </p:txBody>
      </p:sp>
      <p:sp>
        <p:nvSpPr>
          <p:cNvPr id="9" name="Rectangle 8"/>
          <p:cNvSpPr/>
          <p:nvPr/>
        </p:nvSpPr>
        <p:spPr>
          <a:xfrm>
            <a:off x="11938000" y="2286000"/>
            <a:ext cx="2921000" cy="1524000"/>
          </a:xfrm>
          <a:prstGeom prst="rect">
            <a:avLst/>
          </a:prstGeom>
          <a:solidFill>
            <a:srgbClr val="FFFFFF"/>
          </a:solidFill>
          <a:ln>
            <a:solidFill>
              <a:srgbClr val="8B8B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app_settings</a:t>
            </a:r>
          </a:p>
          <a:p>
            <a:pPr algn="ctr"/>
            <a:r>
              <a:rPr lang="en-US" b="1" smtClean="0"/>
              <a:t>Theme / settings</a:t>
            </a:r>
          </a:p>
          <a:p>
            <a:pPr algn="ctr"/>
            <a:r>
              <a:rPr lang="en-US" b="1" smtClean="0"/>
              <a:t>App-level preferences</a:t>
            </a:r>
            <a:endParaRPr lang="en-IN" b="1"/>
          </a:p>
        </p:txBody>
      </p:sp>
      <p:sp>
        <p:nvSpPr>
          <p:cNvPr id="10" name="TextBox 9"/>
          <p:cNvSpPr txBox="1"/>
          <p:nvPr/>
        </p:nvSpPr>
        <p:spPr>
          <a:xfrm>
            <a:off x="1143000" y="4445000"/>
            <a:ext cx="12446000" cy="1631216"/>
          </a:xfrm>
          <a:prstGeom prst="rect">
            <a:avLst/>
          </a:prstGeom>
          <a:noFill/>
        </p:spPr>
        <p:txBody>
          <a:bodyPr vert="horz" rtlCol="0">
            <a:spAutoFit/>
          </a:bodyPr>
          <a:lstStyle/>
          <a:p>
            <a:r>
              <a:rPr lang="en-US" sz="2000" smtClean="0"/>
              <a:t>Room Database is used for local persistence in the application. The user_infrastructure table stores household setup details, while rainfall_log stores each rainfall entry as a historical record. Monthly summaries are supported through monthly_report_cache, and internal preferences can be stored in app_settings. DAO queries expose Flow-based streams so the dashboard updates automatically when new rainfall data is inserted.</a:t>
            </a:r>
            <a:endParaRPr lang="en-IN" sz="2000"/>
          </a:p>
        </p:txBody>
      </p:sp>
    </p:spTree>
    <p:extLst>
      <p:ext uri="{BB962C8B-B14F-4D97-AF65-F5344CB8AC3E}">
        <p14:creationId xmlns:p14="http://schemas.microsoft.com/office/powerpoint/2010/main" val="3391757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3A155F-D322-7F94-4377-5CE1B58EB50B}"/>
              </a:ext>
            </a:extLst>
          </p:cNvPr>
          <p:cNvSpPr>
            <a:spLocks noGrp="1"/>
          </p:cNvSpPr>
          <p:nvPr>
            <p:ph type="title"/>
          </p:nvPr>
        </p:nvSpPr>
        <p:spPr>
          <a:xfrm>
            <a:off x="204840" y="234356"/>
            <a:ext cx="12895002" cy="1981200"/>
          </a:xfrm>
        </p:spPr>
        <p:txBody>
          <a:bodyPr/>
          <a:lstStyle/>
          <a:p>
            <a:r>
              <a:rPr lang="en-US" b="1" smtClean="0">
                <a:solidFill>
                  <a:srgbClr val="002060"/>
                </a:solidFill>
                <a:latin typeface="Playfair Display Bold"/>
                <a:ea typeface="Playfair Display Bold"/>
                <a:cs typeface="Playfair Display Bold"/>
                <a:sym typeface="Playfair Display Bold"/>
              </a:rPr>
              <a:t>System Requirements:</a:t>
            </a:r>
            <a:endParaRPr lang="en-IN" dirty="0"/>
          </a:p>
        </p:txBody>
      </p:sp>
      <p:sp>
        <p:nvSpPr>
          <p:cNvPr id="3" name="Content Placeholder 2">
            <a:extLst>
              <a:ext uri="{FF2B5EF4-FFF2-40B4-BE49-F238E27FC236}">
                <a16:creationId xmlns="" xmlns:a16="http://schemas.microsoft.com/office/drawing/2014/main" id="{3B2BD4B7-1BFA-DD48-B7B9-32729A164822}"/>
              </a:ext>
            </a:extLst>
          </p:cNvPr>
          <p:cNvSpPr>
            <a:spLocks noGrp="1"/>
          </p:cNvSpPr>
          <p:nvPr>
            <p:ph idx="1"/>
          </p:nvPr>
        </p:nvSpPr>
        <p:spPr>
          <a:xfrm>
            <a:off x="811161" y="1622323"/>
            <a:ext cx="13630784" cy="6727406"/>
          </a:xfrm>
        </p:spPr>
        <p:txBody>
          <a:bodyPr>
            <a:normAutofit fontScale="25000" lnSpcReduction="20000"/>
          </a:bodyPr>
          <a:lstStyle/>
          <a:p>
            <a:pPr marL="0" indent="0">
              <a:buNone/>
            </a:pPr>
            <a:r>
              <a:rPr lang="en-US" sz="14400" b="1" smtClean="0">
                <a:solidFill>
                  <a:schemeClr val="accent1">
                    <a:lumMod val="75000"/>
                  </a:schemeClr>
                </a:solidFill>
                <a:latin typeface="Playfair Display Bold"/>
                <a:ea typeface="Playfair Display Bold"/>
                <a:cs typeface="Playfair Display Bold"/>
                <a:sym typeface="Playfair Display Bold"/>
              </a:rPr>
              <a:t>Software Requirements</a:t>
            </a:r>
          </a:p>
          <a:p>
            <a:pPr marL="0" indent="0">
              <a:buNone/>
            </a:pPr>
            <a:r>
              <a:rPr lang="en-US" sz="14400" b="1" smtClean="0">
                <a:solidFill>
                  <a:schemeClr val="accent1">
                    <a:lumMod val="75000"/>
                  </a:schemeClr>
                </a:solidFill>
                <a:latin typeface="Playfair Display Bold"/>
                <a:ea typeface="Playfair Display Bold"/>
                <a:cs typeface="Playfair Display Bold"/>
                <a:sym typeface="Playfair Display Bold"/>
              </a:rPr>
              <a:t>1. Programming Language:</a:t>
            </a:r>
          </a:p>
          <a:p>
            <a:pPr marL="0" indent="0">
              <a:buNone/>
            </a:pPr>
            <a:r>
              <a:rPr lang="en-US" sz="14400" b="1" smtClean="0">
                <a:solidFill>
                  <a:schemeClr val="accent1">
                    <a:lumMod val="75000"/>
                  </a:schemeClr>
                </a:solidFill>
                <a:latin typeface="Playfair Display Bold"/>
                <a:ea typeface="Playfair Display Bold"/>
                <a:cs typeface="Playfair Display Bold"/>
                <a:sym typeface="Playfair Display Bold"/>
              </a:rPr>
              <a:t>Kotlin</a:t>
            </a:r>
          </a:p>
          <a:p>
            <a:pPr marL="0" indent="0">
              <a:buNone/>
            </a:pPr>
            <a:endParaRPr lang="en-US" sz="14400" b="1" smtClean="0">
              <a:solidFill>
                <a:schemeClr val="accent1">
                  <a:lumMod val="75000"/>
                </a:schemeClr>
              </a:solidFill>
              <a:latin typeface="Playfair Display Bold"/>
              <a:ea typeface="Playfair Display Bold"/>
              <a:cs typeface="Playfair Display Bold"/>
              <a:sym typeface="Playfair Display Bold"/>
            </a:endParaRPr>
          </a:p>
          <a:p>
            <a:pPr marL="0" indent="0">
              <a:buNone/>
            </a:pPr>
            <a:r>
              <a:rPr lang="en-US" sz="14400" b="1" smtClean="0">
                <a:solidFill>
                  <a:schemeClr val="accent1">
                    <a:lumMod val="75000"/>
                  </a:schemeClr>
                </a:solidFill>
                <a:latin typeface="Playfair Display Bold"/>
                <a:ea typeface="Playfair Display Bold"/>
                <a:cs typeface="Playfair Display Bold"/>
                <a:sym typeface="Playfair Display Bold"/>
              </a:rPr>
              <a:t>2. UI Toolkit:</a:t>
            </a:r>
          </a:p>
          <a:p>
            <a:pPr marL="0" indent="0">
              <a:buNone/>
            </a:pPr>
            <a:r>
              <a:rPr lang="en-US" sz="14400" b="1" smtClean="0">
                <a:solidFill>
                  <a:schemeClr val="accent1">
                    <a:lumMod val="75000"/>
                  </a:schemeClr>
                </a:solidFill>
                <a:latin typeface="Playfair Display Bold"/>
                <a:ea typeface="Playfair Display Bold"/>
                <a:cs typeface="Playfair Display Bold"/>
                <a:sym typeface="Playfair Display Bold"/>
              </a:rPr>
              <a:t>Jetpack Compose, Material 3</a:t>
            </a:r>
          </a:p>
          <a:p>
            <a:pPr marL="0" indent="0">
              <a:buNone/>
            </a:pPr>
            <a:endParaRPr lang="en-US" sz="14400" b="1" smtClean="0">
              <a:solidFill>
                <a:schemeClr val="accent1">
                  <a:lumMod val="75000"/>
                </a:schemeClr>
              </a:solidFill>
              <a:latin typeface="Playfair Display Bold"/>
              <a:ea typeface="Playfair Display Bold"/>
              <a:cs typeface="Playfair Display Bold"/>
              <a:sym typeface="Playfair Display Bold"/>
            </a:endParaRPr>
          </a:p>
          <a:p>
            <a:pPr marL="0" indent="0">
              <a:buNone/>
            </a:pPr>
            <a:r>
              <a:rPr lang="en-US" sz="14400" b="1" smtClean="0">
                <a:solidFill>
                  <a:schemeClr val="accent1">
                    <a:lumMod val="75000"/>
                  </a:schemeClr>
                </a:solidFill>
                <a:latin typeface="Playfair Display Bold"/>
                <a:ea typeface="Playfair Display Bold"/>
                <a:cs typeface="Playfair Display Bold"/>
                <a:sym typeface="Playfair Display Bold"/>
              </a:rPr>
              <a:t>3. Database:</a:t>
            </a:r>
          </a:p>
          <a:p>
            <a:pPr marL="0" indent="0">
              <a:buNone/>
            </a:pPr>
            <a:r>
              <a:rPr lang="en-US" sz="14400" b="1" smtClean="0">
                <a:solidFill>
                  <a:schemeClr val="accent1">
                    <a:lumMod val="75000"/>
                  </a:schemeClr>
                </a:solidFill>
                <a:latin typeface="Playfair Display Bold"/>
                <a:ea typeface="Playfair Display Bold"/>
                <a:cs typeface="Playfair Display Bold"/>
                <a:sym typeface="Playfair Display Bold"/>
              </a:rPr>
              <a:t>Room Database (SQLite)</a:t>
            </a:r>
          </a:p>
          <a:p>
            <a:pPr marL="0" indent="0">
              <a:buNone/>
            </a:pPr>
            <a:endParaRPr lang="en-US" sz="14400" b="1" smtClean="0">
              <a:solidFill>
                <a:schemeClr val="accent1">
                  <a:lumMod val="75000"/>
                </a:schemeClr>
              </a:solidFill>
              <a:latin typeface="Playfair Display Bold"/>
              <a:ea typeface="Playfair Display Bold"/>
              <a:cs typeface="Playfair Display Bold"/>
              <a:sym typeface="Playfair Display Bold"/>
            </a:endParaRPr>
          </a:p>
          <a:p>
            <a:pPr marL="0" indent="0">
              <a:buNone/>
            </a:pPr>
            <a:r>
              <a:rPr lang="en-US" sz="14400" b="1" smtClean="0">
                <a:solidFill>
                  <a:schemeClr val="accent1">
                    <a:lumMod val="75000"/>
                  </a:schemeClr>
                </a:solidFill>
                <a:latin typeface="Playfair Display Bold"/>
                <a:ea typeface="Playfair Display Bold"/>
                <a:cs typeface="Playfair Display Bold"/>
                <a:sym typeface="Playfair Display Bold"/>
              </a:rPr>
              <a:t>4. Architecture / Libraries:</a:t>
            </a:r>
          </a:p>
          <a:p>
            <a:pPr marL="0" indent="0">
              <a:buNone/>
            </a:pPr>
            <a:r>
              <a:rPr lang="en-US" sz="14400" b="1" smtClean="0">
                <a:solidFill>
                  <a:schemeClr val="accent1">
                    <a:lumMod val="75000"/>
                  </a:schemeClr>
                </a:solidFill>
                <a:latin typeface="Playfair Display Bold"/>
                <a:ea typeface="Playfair Display Bold"/>
                <a:cs typeface="Playfair Display Bold"/>
                <a:sym typeface="Playfair Display Bold"/>
              </a:rPr>
              <a:t>Hilt, Coroutines, StateFlow, MVVM</a:t>
            </a:r>
          </a:p>
          <a:p>
            <a:pPr marL="0" indent="0">
              <a:buNone/>
            </a:pPr>
            <a:endParaRPr lang="en-US" sz="14400" b="1" smtClean="0">
              <a:solidFill>
                <a:schemeClr val="accent1">
                  <a:lumMod val="75000"/>
                </a:schemeClr>
              </a:solidFill>
              <a:latin typeface="Playfair Display Bold"/>
              <a:ea typeface="Playfair Display Bold"/>
              <a:cs typeface="Playfair Display Bold"/>
              <a:sym typeface="Playfair Display Bold"/>
            </a:endParaRPr>
          </a:p>
          <a:p>
            <a:pPr marL="0" indent="0">
              <a:buNone/>
            </a:pPr>
            <a:r>
              <a:rPr lang="en-US" sz="14400" b="1" smtClean="0">
                <a:solidFill>
                  <a:schemeClr val="accent1">
                    <a:lumMod val="75000"/>
                  </a:schemeClr>
                </a:solidFill>
                <a:latin typeface="Playfair Display Bold"/>
                <a:ea typeface="Playfair Display Bold"/>
                <a:cs typeface="Playfair Display Bold"/>
                <a:sym typeface="Playfair Display Bold"/>
              </a:rPr>
              <a:t>5. Development Tools:</a:t>
            </a:r>
          </a:p>
          <a:p>
            <a:pPr marL="0" indent="0">
              <a:buNone/>
            </a:pPr>
            <a:r>
              <a:rPr lang="en-US" sz="14400" b="1" smtClean="0">
                <a:solidFill>
                  <a:schemeClr val="accent1">
                    <a:lumMod val="75000"/>
                  </a:schemeClr>
                </a:solidFill>
                <a:latin typeface="Playfair Display Bold"/>
                <a:ea typeface="Playfair Display Bold"/>
                <a:cs typeface="Playfair Display Bold"/>
                <a:sym typeface="Playfair Display Bold"/>
              </a:rPr>
              <a:t>Android Studio, Gradle, Android SDK</a:t>
            </a:r>
            <a:endParaRPr lang="en-IN" dirty="0"/>
          </a:p>
        </p:txBody>
      </p:sp>
    </p:spTree>
    <p:extLst>
      <p:ext uri="{BB962C8B-B14F-4D97-AF65-F5344CB8AC3E}">
        <p14:creationId xmlns:p14="http://schemas.microsoft.com/office/powerpoint/2010/main" val="294155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844F48-6297-C505-670E-B63834BBBB11}"/>
              </a:ext>
            </a:extLst>
          </p:cNvPr>
          <p:cNvSpPr>
            <a:spLocks noGrp="1"/>
          </p:cNvSpPr>
          <p:nvPr>
            <p:ph type="title"/>
          </p:nvPr>
        </p:nvSpPr>
        <p:spPr>
          <a:xfrm>
            <a:off x="367072" y="221226"/>
            <a:ext cx="12895002" cy="1981200"/>
          </a:xfrm>
        </p:spPr>
        <p:txBody>
          <a:bodyPr>
            <a:normAutofit fontScale="90000"/>
          </a:bodyPr>
          <a:lstStyle/>
          <a:p>
            <a:r>
              <a:rPr lang="en-US" sz="6000" b="1" smtClean="0">
                <a:solidFill>
                  <a:srgbClr val="002060"/>
                </a:solidFill>
                <a:latin typeface="Playfair Display Bold"/>
                <a:ea typeface="Playfair Display Bold"/>
                <a:cs typeface="Playfair Display Bold"/>
                <a:sym typeface="Playfair Display Bold"/>
              </a:rPr>
              <a:t>System Requirements: Hardware Requirements</a:t>
            </a:r>
            <a:endParaRPr lang="en-IN" sz="4000" dirty="0">
              <a:solidFill>
                <a:srgbClr val="00B0F0"/>
              </a:solidFill>
            </a:endParaRPr>
          </a:p>
        </p:txBody>
      </p:sp>
      <p:sp>
        <p:nvSpPr>
          <p:cNvPr id="3" name="Content Placeholder 2">
            <a:extLst>
              <a:ext uri="{FF2B5EF4-FFF2-40B4-BE49-F238E27FC236}">
                <a16:creationId xmlns="" xmlns:a16="http://schemas.microsoft.com/office/drawing/2014/main" id="{5016D5F4-794B-989E-D063-5E030B3A5CC6}"/>
              </a:ext>
            </a:extLst>
          </p:cNvPr>
          <p:cNvSpPr>
            <a:spLocks noGrp="1"/>
          </p:cNvSpPr>
          <p:nvPr>
            <p:ph idx="1"/>
          </p:nvPr>
        </p:nvSpPr>
        <p:spPr>
          <a:xfrm>
            <a:off x="1016001" y="2562457"/>
            <a:ext cx="13525909" cy="7082987"/>
          </a:xfrm>
        </p:spPr>
        <p:txBody>
          <a:bodyPr>
            <a:noAutofit/>
          </a:bodyPr>
          <a:lstStyle/>
          <a:p>
            <a:pPr algn="just">
              <a:lnSpc>
                <a:spcPts val="4200"/>
              </a:lnSpc>
            </a:pPr>
            <a:r>
              <a:rPr lang="en-US" sz="2800" b="1" smtClean="0">
                <a:solidFill>
                  <a:srgbClr val="000000"/>
                </a:solidFill>
                <a:latin typeface="Times New Roman" panose="02020603050405020304" pitchFamily="18" charset="0"/>
                <a:ea typeface="Playfair Display Bold"/>
                <a:cs typeface="Times New Roman" panose="02020603050405020304" pitchFamily="18" charset="0"/>
                <a:sym typeface="Playfair Display Bold"/>
              </a:rPr>
              <a:t>Developer System:</a:t>
            </a:r>
          </a:p>
          <a:p>
            <a:pPr algn="just">
              <a:lnSpc>
                <a:spcPts val="4200"/>
              </a:lnSpc>
            </a:pPr>
            <a:r>
              <a:rPr lang="en-US" sz="2800" b="1" smtClean="0">
                <a:solidFill>
                  <a:srgbClr val="000000"/>
                </a:solidFill>
                <a:latin typeface="Times New Roman" panose="02020603050405020304" pitchFamily="18" charset="0"/>
                <a:ea typeface="Playfair Display Bold"/>
                <a:cs typeface="Times New Roman" panose="02020603050405020304" pitchFamily="18" charset="0"/>
                <a:sym typeface="Playfair Display Bold"/>
              </a:rPr>
              <a:t>Processor: Intel i3 / i5 / Ryzen equivalent or above</a:t>
            </a:r>
          </a:p>
          <a:p>
            <a:pPr algn="just">
              <a:lnSpc>
                <a:spcPts val="4200"/>
              </a:lnSpc>
            </a:pPr>
            <a:r>
              <a:rPr lang="en-US" sz="2800" b="1" smtClean="0">
                <a:solidFill>
                  <a:srgbClr val="000000"/>
                </a:solidFill>
                <a:latin typeface="Times New Roman" panose="02020603050405020304" pitchFamily="18" charset="0"/>
                <a:ea typeface="Playfair Display Bold"/>
                <a:cs typeface="Times New Roman" panose="02020603050405020304" pitchFamily="18" charset="0"/>
                <a:sym typeface="Playfair Display Bold"/>
              </a:rPr>
              <a:t>RAM: Minimum 8 GB recommended</a:t>
            </a:r>
          </a:p>
          <a:p>
            <a:pPr algn="just">
              <a:lnSpc>
                <a:spcPts val="4200"/>
              </a:lnSpc>
            </a:pPr>
            <a:r>
              <a:rPr lang="en-US" sz="2800" b="1" smtClean="0">
                <a:solidFill>
                  <a:srgbClr val="000000"/>
                </a:solidFill>
                <a:latin typeface="Times New Roman" panose="02020603050405020304" pitchFamily="18" charset="0"/>
                <a:ea typeface="Playfair Display Bold"/>
                <a:cs typeface="Times New Roman" panose="02020603050405020304" pitchFamily="18" charset="0"/>
                <a:sym typeface="Playfair Display Bold"/>
              </a:rPr>
              <a:t>Storage: At least 2 GB free for Android Studio, SDK, and project files</a:t>
            </a:r>
          </a:p>
          <a:p>
            <a:pPr algn="just">
              <a:lnSpc>
                <a:spcPts val="4200"/>
              </a:lnSpc>
            </a:pPr>
            <a:endParaRPr lang="en-US" sz="2800" b="1" smtClean="0">
              <a:solidFill>
                <a:srgbClr val="000000"/>
              </a:solidFill>
              <a:latin typeface="Times New Roman" panose="02020603050405020304" pitchFamily="18" charset="0"/>
              <a:ea typeface="Playfair Display Bold"/>
              <a:cs typeface="Times New Roman" panose="02020603050405020304" pitchFamily="18" charset="0"/>
              <a:sym typeface="Playfair Display Bold"/>
            </a:endParaRPr>
          </a:p>
          <a:p>
            <a:pPr algn="just">
              <a:lnSpc>
                <a:spcPts val="4200"/>
              </a:lnSpc>
            </a:pPr>
            <a:r>
              <a:rPr lang="en-US" sz="2800" b="1" smtClean="0">
                <a:solidFill>
                  <a:srgbClr val="000000"/>
                </a:solidFill>
                <a:latin typeface="Times New Roman" panose="02020603050405020304" pitchFamily="18" charset="0"/>
                <a:ea typeface="Playfair Display Bold"/>
                <a:cs typeface="Times New Roman" panose="02020603050405020304" pitchFamily="18" charset="0"/>
                <a:sym typeface="Playfair Display Bold"/>
              </a:rPr>
              <a:t>Android Test Device:</a:t>
            </a:r>
          </a:p>
          <a:p>
            <a:pPr algn="just">
              <a:lnSpc>
                <a:spcPts val="4200"/>
              </a:lnSpc>
            </a:pPr>
            <a:r>
              <a:rPr lang="en-US" sz="2800" b="1" smtClean="0">
                <a:solidFill>
                  <a:srgbClr val="000000"/>
                </a:solidFill>
                <a:latin typeface="Times New Roman" panose="02020603050405020304" pitchFamily="18" charset="0"/>
                <a:ea typeface="Playfair Display Bold"/>
                <a:cs typeface="Times New Roman" panose="02020603050405020304" pitchFamily="18" charset="0"/>
                <a:sym typeface="Playfair Display Bold"/>
              </a:rPr>
              <a:t>Android version: 7.0 (API 24) or above</a:t>
            </a:r>
          </a:p>
          <a:p>
            <a:pPr algn="just">
              <a:lnSpc>
                <a:spcPts val="4200"/>
              </a:lnSpc>
            </a:pPr>
            <a:r>
              <a:rPr lang="en-US" sz="2800" b="1" smtClean="0">
                <a:solidFill>
                  <a:srgbClr val="000000"/>
                </a:solidFill>
                <a:latin typeface="Times New Roman" panose="02020603050405020304" pitchFamily="18" charset="0"/>
                <a:ea typeface="Playfair Display Bold"/>
                <a:cs typeface="Times New Roman" panose="02020603050405020304" pitchFamily="18" charset="0"/>
                <a:sym typeface="Playfair Display Bold"/>
              </a:rPr>
              <a:t>RAM: 3 GB or higher recommended</a:t>
            </a:r>
          </a:p>
          <a:p>
            <a:pPr algn="just">
              <a:lnSpc>
                <a:spcPts val="4200"/>
              </a:lnSpc>
            </a:pPr>
            <a:r>
              <a:rPr lang="en-US" sz="2800" b="1" smtClean="0">
                <a:solidFill>
                  <a:srgbClr val="000000"/>
                </a:solidFill>
                <a:latin typeface="Times New Roman" panose="02020603050405020304" pitchFamily="18" charset="0"/>
                <a:ea typeface="Playfair Display Bold"/>
                <a:cs typeface="Times New Roman" panose="02020603050405020304" pitchFamily="18" charset="0"/>
                <a:sym typeface="Playfair Display Bold"/>
              </a:rPr>
              <a:t>Storage: Minimum 200 MB free for app install and local database</a:t>
            </a:r>
          </a:p>
          <a:p>
            <a:pPr algn="just">
              <a:lnSpc>
                <a:spcPts val="4200"/>
              </a:lnSpc>
            </a:pPr>
            <a:r>
              <a:rPr lang="en-US" sz="2800" b="1" smtClean="0">
                <a:solidFill>
                  <a:srgbClr val="000000"/>
                </a:solidFill>
                <a:latin typeface="Times New Roman" panose="02020603050405020304" pitchFamily="18" charset="0"/>
                <a:ea typeface="Playfair Display Bold"/>
                <a:cs typeface="Times New Roman" panose="02020603050405020304" pitchFamily="18" charset="0"/>
                <a:sym typeface="Playfair Display Bold"/>
              </a:rPr>
              <a:t>Display: Standard phone screen for testing responsive Compose UI</a:t>
            </a:r>
            <a:endParaRPr lang="en-IN" sz="2800" dirty="0"/>
          </a:p>
        </p:txBody>
      </p:sp>
    </p:spTree>
    <p:extLst>
      <p:ext uri="{BB962C8B-B14F-4D97-AF65-F5344CB8AC3E}">
        <p14:creationId xmlns:p14="http://schemas.microsoft.com/office/powerpoint/2010/main" val="3607005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 xmlns:a16="http://schemas.microsoft.com/office/drawing/2014/main" id="{40BAE618-977D-507B-F61E-99854E03EF63}"/>
              </a:ext>
            </a:extLst>
          </p:cNvPr>
          <p:cNvSpPr txBox="1"/>
          <p:nvPr/>
        </p:nvSpPr>
        <p:spPr>
          <a:xfrm>
            <a:off x="2805545" y="4343401"/>
            <a:ext cx="3657600" cy="373249"/>
          </a:xfrm>
          <a:prstGeom prst="rect">
            <a:avLst/>
          </a:prstGeom>
          <a:noFill/>
        </p:spPr>
        <p:txBody>
          <a:bodyPr wrap="square" rtlCol="0">
            <a:spAutoFit/>
          </a:bodyPr>
          <a:lstStyle/>
          <a:p>
            <a:r>
              <a:rPr lang="en-US" smtClean="0"/>
              <a:t>Welcome Page</a:t>
            </a:r>
            <a:endParaRPr lang="en-US" dirty="0"/>
          </a:p>
        </p:txBody>
      </p:sp>
      <p:sp>
        <p:nvSpPr>
          <p:cNvPr id="12" name="TextBox 11">
            <a:extLst>
              <a:ext uri="{FF2B5EF4-FFF2-40B4-BE49-F238E27FC236}">
                <a16:creationId xmlns="" xmlns:a16="http://schemas.microsoft.com/office/drawing/2014/main" id="{884C554C-475D-BDE8-70DF-1E233460D4CC}"/>
              </a:ext>
            </a:extLst>
          </p:cNvPr>
          <p:cNvSpPr txBox="1"/>
          <p:nvPr/>
        </p:nvSpPr>
        <p:spPr>
          <a:xfrm>
            <a:off x="12915900" y="4480441"/>
            <a:ext cx="9247908" cy="369332"/>
          </a:xfrm>
          <a:prstGeom prst="rect">
            <a:avLst/>
          </a:prstGeom>
          <a:noFill/>
        </p:spPr>
        <p:txBody>
          <a:bodyPr wrap="square">
            <a:spAutoFit/>
          </a:bodyPr>
          <a:lstStyle/>
          <a:p>
            <a:r>
              <a:rPr lang="en-US" smtClean="0"/>
              <a:t>Setup Page</a:t>
            </a:r>
            <a:endParaRPr lang="en-US" dirty="0"/>
          </a:p>
        </p:txBody>
      </p:sp>
      <p:sp>
        <p:nvSpPr>
          <p:cNvPr id="14" name="TextBox 13">
            <a:extLst>
              <a:ext uri="{FF2B5EF4-FFF2-40B4-BE49-F238E27FC236}">
                <a16:creationId xmlns="" xmlns:a16="http://schemas.microsoft.com/office/drawing/2014/main" id="{F97085C3-9ED4-BA31-7357-79914C9241F5}"/>
              </a:ext>
            </a:extLst>
          </p:cNvPr>
          <p:cNvSpPr txBox="1"/>
          <p:nvPr/>
        </p:nvSpPr>
        <p:spPr>
          <a:xfrm>
            <a:off x="12749646" y="8940923"/>
            <a:ext cx="11076708" cy="369332"/>
          </a:xfrm>
          <a:prstGeom prst="rect">
            <a:avLst/>
          </a:prstGeom>
          <a:noFill/>
        </p:spPr>
        <p:txBody>
          <a:bodyPr wrap="square">
            <a:spAutoFit/>
          </a:bodyPr>
          <a:lstStyle/>
          <a:p>
            <a:r>
              <a:rPr lang="en-US" smtClean="0"/>
              <a:t>Dashboard / Report</a:t>
            </a:r>
            <a:endParaRPr lang="en-US" dirty="0"/>
          </a:p>
        </p:txBody>
      </p:sp>
      <p:sp>
        <p:nvSpPr>
          <p:cNvPr id="16" name="TextBox 15">
            <a:extLst>
              <a:ext uri="{FF2B5EF4-FFF2-40B4-BE49-F238E27FC236}">
                <a16:creationId xmlns="" xmlns:a16="http://schemas.microsoft.com/office/drawing/2014/main" id="{5293B345-ACFC-42E6-95AD-61B06681C8D3}"/>
              </a:ext>
            </a:extLst>
          </p:cNvPr>
          <p:cNvSpPr txBox="1"/>
          <p:nvPr/>
        </p:nvSpPr>
        <p:spPr>
          <a:xfrm>
            <a:off x="3407380" y="9414164"/>
            <a:ext cx="11908464" cy="369332"/>
          </a:xfrm>
          <a:prstGeom prst="rect">
            <a:avLst/>
          </a:prstGeom>
          <a:noFill/>
        </p:spPr>
        <p:txBody>
          <a:bodyPr wrap="square">
            <a:spAutoFit/>
          </a:bodyPr>
          <a:lstStyle/>
          <a:p>
            <a:r>
              <a:rPr lang="en-US" smtClean="0"/>
              <a:t>Impact / Tips</a:t>
            </a:r>
            <a:endParaRPr lang="en-US" dirty="0"/>
          </a:p>
        </p:txBody>
      </p:sp>
      <p:pic>
        <p:nvPicPr>
          <p:cNvPr id="2" name="Picture 1"/>
          <p:cNvPicPr>
            <a:picLocks/>
          </p:cNvPicPr>
          <p:nvPr/>
        </p:nvPicPr>
        <p:blipFill>
          <a:blip r:embed="rId2">
            <a:extLst>
              <a:ext uri="{28A0092B-C50C-407E-A947-70E740481C1C}">
                <a14:useLocalDpi xmlns:a14="http://schemas.microsoft.com/office/drawing/2010/main" val="0"/>
              </a:ext>
            </a:extLst>
          </a:blip>
          <a:stretch>
            <a:fillRect/>
          </a:stretch>
        </p:blipFill>
        <p:spPr>
          <a:xfrm>
            <a:off x="589643" y="425612"/>
            <a:ext cx="8336747" cy="3813879"/>
          </a:xfrm>
          <a:prstGeom prst="rect">
            <a:avLst/>
          </a:prstGeom>
        </p:spPr>
      </p:pic>
      <p:pic>
        <p:nvPicPr>
          <p:cNvPr id="4" name="Picture 3"/>
          <p:cNvPicPr>
            <a:picLocks/>
          </p:cNvPicPr>
          <p:nvPr/>
        </p:nvPicPr>
        <p:blipFill>
          <a:blip r:embed="rId2">
            <a:extLst>
              <a:ext uri="{28A0092B-C50C-407E-A947-70E740481C1C}">
                <a14:useLocalDpi xmlns:a14="http://schemas.microsoft.com/office/drawing/2010/main" val="0"/>
              </a:ext>
            </a:extLst>
          </a:blip>
          <a:stretch>
            <a:fillRect/>
          </a:stretch>
        </p:blipFill>
        <p:spPr>
          <a:xfrm>
            <a:off x="589643" y="4820559"/>
            <a:ext cx="8336747" cy="4489696"/>
          </a:xfrm>
          <a:prstGeom prst="rect">
            <a:avLst/>
          </a:prstGeom>
        </p:spPr>
      </p:pic>
      <p:pic>
        <p:nvPicPr>
          <p:cNvPr id="6" name="Picture 5"/>
          <p:cNvPicPr>
            <a:picLocks/>
          </p:cNvPicPr>
          <p:nvPr/>
        </p:nvPicPr>
        <p:blipFill>
          <a:blip r:embed="rId2">
            <a:extLst>
              <a:ext uri="{28A0092B-C50C-407E-A947-70E740481C1C}">
                <a14:useLocalDpi xmlns:a14="http://schemas.microsoft.com/office/drawing/2010/main" val="0"/>
              </a:ext>
            </a:extLst>
          </a:blip>
          <a:stretch>
            <a:fillRect/>
          </a:stretch>
        </p:blipFill>
        <p:spPr>
          <a:xfrm>
            <a:off x="9361612" y="330864"/>
            <a:ext cx="8979392" cy="4116446"/>
          </a:xfrm>
          <a:prstGeom prst="rect">
            <a:avLst/>
          </a:prstGeom>
        </p:spPr>
      </p:pic>
      <p:pic>
        <p:nvPicPr>
          <p:cNvPr id="8" name="Picture 7"/>
          <p:cNvPicPr>
            <a:picLocks/>
          </p:cNvPicPr>
          <p:nvPr/>
        </p:nvPicPr>
        <p:blipFill>
          <a:blip r:embed="rId2">
            <a:extLst>
              <a:ext uri="{28A0092B-C50C-407E-A947-70E740481C1C}">
                <a14:useLocalDpi xmlns:a14="http://schemas.microsoft.com/office/drawing/2010/main" val="0"/>
              </a:ext>
            </a:extLst>
          </a:blip>
          <a:stretch>
            <a:fillRect/>
          </a:stretch>
        </p:blipFill>
        <p:spPr>
          <a:xfrm>
            <a:off x="9361612" y="4882905"/>
            <a:ext cx="9133824" cy="3907804"/>
          </a:xfrm>
          <a:prstGeom prst="rect">
            <a:avLst/>
          </a:prstGeom>
        </p:spPr>
      </p:pic>
    </p:spTree>
    <p:extLst>
      <p:ext uri="{BB962C8B-B14F-4D97-AF65-F5344CB8AC3E}">
        <p14:creationId xmlns:p14="http://schemas.microsoft.com/office/powerpoint/2010/main" val="1074948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1D9AEB-75BC-8B16-0CD8-7CA9FB992156}"/>
              </a:ext>
            </a:extLst>
          </p:cNvPr>
          <p:cNvSpPr>
            <a:spLocks noGrp="1"/>
          </p:cNvSpPr>
          <p:nvPr>
            <p:ph type="title"/>
          </p:nvPr>
        </p:nvSpPr>
        <p:spPr>
          <a:xfrm>
            <a:off x="371348" y="680668"/>
            <a:ext cx="11446256" cy="1245870"/>
          </a:xfrm>
        </p:spPr>
        <p:txBody>
          <a:bodyPr/>
          <a:lstStyle/>
          <a:p>
            <a:r>
              <a:rPr lang="en-IN" b="1" smtClean="0">
                <a:solidFill>
                  <a:srgbClr val="002060"/>
                </a:solidFill>
              </a:rPr>
              <a:t>CONCLUSION:</a:t>
            </a:r>
            <a:endParaRPr lang="en-IN" b="1" dirty="0"/>
          </a:p>
        </p:txBody>
      </p:sp>
      <p:sp>
        <p:nvSpPr>
          <p:cNvPr id="3" name="Text Placeholder 2">
            <a:extLst>
              <a:ext uri="{FF2B5EF4-FFF2-40B4-BE49-F238E27FC236}">
                <a16:creationId xmlns="" xmlns:a16="http://schemas.microsoft.com/office/drawing/2014/main" id="{F6374A1E-2598-66F9-6A80-2DE318361BBE}"/>
              </a:ext>
            </a:extLst>
          </p:cNvPr>
          <p:cNvSpPr>
            <a:spLocks noGrp="1"/>
          </p:cNvSpPr>
          <p:nvPr>
            <p:ph idx="1"/>
          </p:nvPr>
        </p:nvSpPr>
        <p:spPr>
          <a:xfrm>
            <a:off x="371347" y="2589570"/>
            <a:ext cx="14927267" cy="6093976"/>
          </a:xfrm>
        </p:spPr>
        <p:txBody>
          <a:bodyPr>
            <a:normAutofit/>
          </a:bodyPr>
          <a:lstStyle/>
          <a:p>
            <a:pPr algn="just"/>
            <a:r>
              <a:rPr lang="en-US" sz="2800" smtClean="0">
                <a:latin typeface="Times New Roman" panose="02020603050405020304" pitchFamily="18" charset="0"/>
                <a:cs typeface="Times New Roman" panose="02020603050405020304" pitchFamily="18" charset="0"/>
              </a:rPr>
              <a:t>Jal-Sanchay Tracker successfully demonstrates how an Android application can turn rainwater harvesting into a measurable and user-friendly household activity. By combining setup data, rainfall entry, local Room storage, and a reactive Jetpack Compose dashboard, the system gives users clear feedback about litres saved, tank progress, and household impact. The project also highlights good Android development practices through MVVM architecture, Hilt dependency injection, validation logic, and real-time state updates using Flow and StateFlow. Overall, the application promotes sustainability awareness while serving as a strong internship-level implementation of Kotlin Android development.</a:t>
            </a:r>
            <a:endParaRPr lang="en-IN" sz="2800" b="0" i="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1919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89000" y="635000"/>
            <a:ext cx="6350000" cy="523220"/>
          </a:xfrm>
          <a:prstGeom prst="rect">
            <a:avLst/>
          </a:prstGeom>
          <a:noFill/>
        </p:spPr>
        <p:txBody>
          <a:bodyPr vert="horz" rtlCol="0">
            <a:spAutoFit/>
          </a:bodyPr>
          <a:lstStyle/>
          <a:p>
            <a:r>
              <a:rPr lang="en-IN" sz="2800" b="1" smtClean="0"/>
              <a:t>REFERENCES:</a:t>
            </a:r>
            <a:endParaRPr lang="en-IN" sz="2800" b="1"/>
          </a:p>
        </p:txBody>
      </p:sp>
      <p:sp>
        <p:nvSpPr>
          <p:cNvPr id="4" name="TextBox 3"/>
          <p:cNvSpPr txBox="1"/>
          <p:nvPr/>
        </p:nvSpPr>
        <p:spPr>
          <a:xfrm>
            <a:off x="1143000" y="1651000"/>
            <a:ext cx="12700000" cy="1785104"/>
          </a:xfrm>
          <a:prstGeom prst="rect">
            <a:avLst/>
          </a:prstGeom>
          <a:noFill/>
        </p:spPr>
        <p:txBody>
          <a:bodyPr vert="horz" rtlCol="0">
            <a:spAutoFit/>
          </a:bodyPr>
          <a:lstStyle/>
          <a:p>
            <a:r>
              <a:rPr lang="en-IN" sz="2200" smtClean="0"/>
              <a:t>1. Android Developers Documentation - Jetpack Compose</a:t>
            </a:r>
          </a:p>
          <a:p>
            <a:r>
              <a:rPr lang="en-IN" sz="2200" smtClean="0"/>
              <a:t>2. Android Developers Documentation - Room Persistence Library</a:t>
            </a:r>
          </a:p>
          <a:p>
            <a:r>
              <a:rPr lang="en-IN" sz="2200" smtClean="0"/>
              <a:t>3. Android Developers Documentation - Hilt and dependency injection</a:t>
            </a:r>
          </a:p>
          <a:p>
            <a:r>
              <a:rPr lang="en-IN" sz="2200" smtClean="0"/>
              <a:t>4. Research articles on rainwater harvesting and household water conservation</a:t>
            </a:r>
          </a:p>
          <a:p>
            <a:r>
              <a:rPr lang="en-IN" sz="2200" smtClean="0"/>
              <a:t>5. Project requirement brief for Jal-Sanchay Tracker</a:t>
            </a:r>
            <a:endParaRPr lang="en-IN" sz="2200"/>
          </a:p>
        </p:txBody>
      </p:sp>
    </p:spTree>
    <p:extLst>
      <p:ext uri="{BB962C8B-B14F-4D97-AF65-F5344CB8AC3E}">
        <p14:creationId xmlns:p14="http://schemas.microsoft.com/office/powerpoint/2010/main" val="77055327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440</TotalTime>
  <Words>1201</Words>
  <Application>Microsoft Office PowerPoint</Application>
  <PresentationFormat>Custom</PresentationFormat>
  <Paragraphs>167</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Facet</vt:lpstr>
      <vt:lpstr>DEPARTMENT OF ISE, HASSAN</vt:lpstr>
      <vt:lpstr>Contents:</vt:lpstr>
      <vt:lpstr>Abstract:</vt:lpstr>
      <vt:lpstr>Aim:</vt:lpstr>
      <vt:lpstr>PowerPoint Presentation</vt:lpstr>
      <vt:lpstr>Problem Statement:</vt:lpstr>
      <vt:lpstr>Simple Setup Allow the user to save household details like roof area and tank capacity.  Rainfall Entry Record rainfall values with validation and local storage.  Live Dashboard Show water saved, recent entries, and animated tank progress.  Monthly Report Summarize total and monthly harvested water clearly.  Impact Score Convert litres into understandable household water days.  User Guidance Provide practical tips for better rainwater harvesting.</vt:lpstr>
      <vt:lpstr>PowerPoint Presentation</vt:lpstr>
      <vt:lpstr>Literature Survey:</vt:lpstr>
      <vt:lpstr>Database Design:</vt:lpstr>
      <vt:lpstr>System Requirements:</vt:lpstr>
      <vt:lpstr>System Requirements: Hardware Requirements</vt:lpstr>
      <vt:lpstr>PowerPoint Presentation</vt:lpstr>
      <vt:lpstr>CONCLUSION: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Airline Management System</dc:title>
  <dc:creator>hs suprith</dc:creator>
  <cp:keywords>DAGXBK7jTZ4,BAFThtaFG1k</cp:keywords>
  <cp:lastModifiedBy>HP</cp:lastModifiedBy>
  <cp:revision>8</cp:revision>
  <dcterms:created xsi:type="dcterms:W3CDTF">2024-12-09T15:55:22Z</dcterms:created>
  <dcterms:modified xsi:type="dcterms:W3CDTF">2026-05-07T14:47:18Z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2024-12-09T00:00:00Z</vt:filetime>
  </property>
  <property fmtid="{D5CDD505-2E9C-101B-9397-08002B2CF9AE}" pid="3" name="Creator">
    <vt:lpwstr>Microsoft® Word 2021</vt:lpwstr>
  </property>
  <property fmtid="{D5CDD505-2E9C-101B-9397-08002B2CF9AE}" pid="4" name="LastSaved">
    <vt:filetime>2024-12-09T00:00:00Z</vt:filetime>
  </property>
</Properties>
</file>