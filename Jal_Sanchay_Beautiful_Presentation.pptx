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23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422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="" xmlns:a16="http://schemas.microsoft.com/office/drawing/2014/main" id="{71E114B0-9A8F-4838-209D-F4DD4FA6681F}"/>
              </a:ext>
            </a:extLst>
          </p:cNvPr>
          <p:cNvSpPr/>
          <p:nvPr/>
        </p:nvSpPr>
        <p:spPr>
          <a:xfrm>
            <a:off x="845224" y="44801"/>
            <a:ext cx="74535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fontAlgn="base">
              <a:lnSpc>
                <a:spcPct val="150000"/>
              </a:lnSpc>
            </a:pPr>
            <a:r>
              <a:rPr lang="en-US" sz="4000" b="1" smtClean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Internship Phase - 2 Presentation</a:t>
            </a:r>
          </a:p>
          <a:p>
            <a:pPr fontAlgn="base">
              <a:lnSpc>
                <a:spcPct val="150000"/>
              </a:lnSpc>
            </a:pPr>
            <a:r>
              <a:rPr lang="en-US" sz="4000" b="1" smtClean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(22INT)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="" xmlns:a16="http://schemas.microsoft.com/office/drawing/2014/main" id="{5C5BCFC5-F070-522B-708B-FFC6C277FEAE}"/>
              </a:ext>
            </a:extLst>
          </p:cNvPr>
          <p:cNvSpPr/>
          <p:nvPr/>
        </p:nvSpPr>
        <p:spPr>
          <a:xfrm>
            <a:off x="6721475" y="2936875"/>
            <a:ext cx="2105025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fontAlgn="base">
              <a:lnSpc>
                <a:spcPct val="150000"/>
              </a:lnSpc>
            </a:pPr>
            <a:r>
              <a:rPr lang="en-US" b="1" smtClean="0"/>
              <a:t>Internship Guide</a:t>
            </a:r>
          </a:p>
          <a:p>
            <a:pPr algn="ctr" fontAlgn="base">
              <a:lnSpc>
                <a:spcPct val="150000"/>
              </a:lnSpc>
            </a:pPr>
            <a:r>
              <a:rPr lang="en-US" b="1" smtClean="0"/>
              <a:t>Update Guide Name</a:t>
            </a:r>
          </a:p>
          <a:p>
            <a:pPr algn="ctr" fontAlgn="base">
              <a:lnSpc>
                <a:spcPct val="150000"/>
              </a:lnSpc>
            </a:pPr>
            <a:r>
              <a:rPr lang="en-US" b="1" smtClean="0"/>
              <a:t>Associate Professor</a:t>
            </a:r>
          </a:p>
          <a:p>
            <a:pPr algn="ctr" fontAlgn="base">
              <a:lnSpc>
                <a:spcPct val="150000"/>
              </a:lnSpc>
            </a:pPr>
            <a:r>
              <a:rPr lang="en-US" b="1" smtClean="0"/>
              <a:t>Department of CSE</a:t>
            </a:r>
          </a:p>
          <a:p>
            <a:pPr algn="ctr" fontAlgn="base">
              <a:lnSpc>
                <a:spcPct val="150000"/>
              </a:lnSpc>
            </a:pPr>
            <a:r>
              <a:rPr lang="en-US" b="1" smtClean="0"/>
              <a:t>MCE, Hassan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049BDEC-57E3-039A-827C-4B1716CEF0C2}"/>
              </a:ext>
            </a:extLst>
          </p:cNvPr>
          <p:cNvSpPr txBox="1"/>
          <p:nvPr/>
        </p:nvSpPr>
        <p:spPr>
          <a:xfrm>
            <a:off x="185057" y="1427390"/>
            <a:ext cx="7343775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SzPct val="100000"/>
            </a:pPr>
            <a:r>
              <a:rPr lang="en-US" b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Internship Title: Android App Development using Gen AI</a:t>
            </a:r>
          </a:p>
          <a:p>
            <a:pPr algn="just">
              <a:lnSpc>
                <a:spcPct val="150000"/>
              </a:lnSpc>
              <a:buSzPct val="100000"/>
            </a:pPr>
            <a:r>
              <a:rPr lang="en-US" b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Project: Jal-Sanchay Tracker</a:t>
            </a:r>
          </a:p>
          <a:p>
            <a:pPr algn="just">
              <a:lnSpc>
                <a:spcPct val="150000"/>
              </a:lnSpc>
              <a:buSzPct val="100000"/>
            </a:pPr>
            <a:r>
              <a:rPr lang="en-US" b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Company: MindMatrix</a:t>
            </a:r>
          </a:p>
          <a:p>
            <a:pPr algn="just">
              <a:lnSpc>
                <a:spcPct val="150000"/>
              </a:lnSpc>
              <a:buSzPct val="100000"/>
            </a:pPr>
            <a:r>
              <a:rPr lang="en-US" b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Name: Update Student Name</a:t>
            </a:r>
          </a:p>
          <a:p>
            <a:pPr algn="just">
              <a:lnSpc>
                <a:spcPct val="150000"/>
              </a:lnSpc>
              <a:buSzPct val="100000"/>
            </a:pPr>
            <a:r>
              <a:rPr lang="en-US" b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USN: Update USN</a:t>
            </a:r>
          </a:p>
          <a:p>
            <a:pPr algn="just">
              <a:lnSpc>
                <a:spcPct val="150000"/>
              </a:lnSpc>
              <a:buSzPct val="100000"/>
            </a:pPr>
            <a:r>
              <a:rPr lang="en-US" b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Branch: Computer Science &amp; Engineering</a:t>
            </a:r>
          </a:p>
          <a:p>
            <a:pPr algn="just">
              <a:lnSpc>
                <a:spcPct val="150000"/>
              </a:lnSpc>
              <a:buSzPct val="100000"/>
            </a:pPr>
            <a:r>
              <a:rPr lang="en-US" b="1" smtClean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Course: Android App Development using Gen AI</a:t>
            </a:r>
            <a:endParaRPr lang="en-US" dirty="0"/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1016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8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5448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14884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74320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33756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93192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526280"/>
            <a:ext cx="3840480" cy="27432"/>
          </a:xfrm>
          <a:prstGeom prst="rect">
            <a:avLst/>
          </a:prstGeom>
          <a:solidFill>
            <a:srgbClr val="7A3B0D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743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D2691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FFFFFF"/>
                </a:solidFill>
              </a:rPr>
              <a:t>MindMatrix VTU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389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smtClean="0">
                <a:solidFill>
                  <a:srgbClr val="D4A88A"/>
                </a:solidFill>
              </a:rPr>
              <a:t>PROJECT #86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10058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Jal-Sanchay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206240" y="2286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smtClean="0">
                <a:solidFill>
                  <a:srgbClr val="D4A8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Rainwater Tracker</a:t>
            </a:r>
          </a:p>
          <a:p>
            <a:pPr marL="0" indent="0" algn="l">
              <a:buNone/>
            </a:pPr>
            <a:r>
              <a:rPr lang="en-US" sz="2000" smtClean="0">
                <a:solidFill>
                  <a:srgbClr val="D4A88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Households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06240" y="3383280"/>
            <a:ext cx="36576" cy="82296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33832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smtClean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Development using GenAI</a:t>
            </a:r>
          </a:p>
          <a:p>
            <a:pPr marL="0" indent="0" algn="l">
              <a:buNone/>
            </a:pPr>
            <a:r>
              <a:rPr lang="en-US" sz="1300" smtClean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Resources Track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smtClean="0">
                <a:solidFill>
                  <a:srgbClr val="A0856C"/>
                </a:solidFill>
              </a:rPr>
              <a:t>MindMatrix VTU Internship Program</a:t>
            </a:r>
            <a:endParaRPr lang="en-US" sz="1100" dirty="0"/>
          </a:p>
        </p:txBody>
      </p:sp>
      <p:pic>
        <p:nvPicPr>
          <p:cNvPr id="19" name="Picture 18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397000"/>
            <a:ext cx="2159000" cy="215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smtClean="0">
                <a:solidFill>
                  <a:srgbClr val="A0856C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smtClean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Water Saving Stays Invisible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65176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smtClean="0">
                <a:solidFill>
                  <a:srgbClr val="000000"/>
                </a:solidFill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smtClean="0">
                <a:solidFill>
                  <a:srgbClr val="2C1810"/>
                </a:solidFill>
              </a:rPr>
              <a:t>No Measurement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smtClean="0">
                <a:solidFill>
                  <a:srgbClr val="555555"/>
                </a:solidFill>
              </a:rPr>
              <a:t>Many households collect rainwater but do not know how much water is actually saved after each rainfall.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00200"/>
            <a:ext cx="265176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smtClean="0">
                <a:solidFill>
                  <a:srgbClr val="000000"/>
                </a:solidFill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smtClean="0">
                <a:solidFill>
                  <a:srgbClr val="2C1810"/>
                </a:solidFill>
              </a:rPr>
              <a:t>No Historical Record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smtClean="0">
                <a:solidFill>
                  <a:srgbClr val="555555"/>
                </a:solidFill>
              </a:rPr>
              <a:t>Rainfall is rarely stored in a structured way, so monthly and all-time conservation becomes hard to review.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600200"/>
            <a:ext cx="265176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smtClean="0">
                <a:solidFill>
                  <a:srgbClr val="000000"/>
                </a:solidFill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7220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smtClean="0">
                <a:solidFill>
                  <a:srgbClr val="2C1810"/>
                </a:solidFill>
              </a:rPr>
              <a:t>Low Awareness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smtClean="0">
                <a:solidFill>
                  <a:srgbClr val="555555"/>
                </a:solidFill>
              </a:rPr>
              <a:t>Without a clear dashboard, tank progress, and impact score, conservation remains hard to explain or improve.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2 of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smtClean="0">
                <a:solidFill>
                  <a:srgbClr val="A0856C"/>
                </a:solidFill>
              </a:rPr>
              <a:t>THE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Jal-Sanchay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smtClean="0">
                <a:solidFill>
                  <a:srgbClr val="D4A88A"/>
                </a:solidFill>
              </a:rPr>
              <a:t>A Household Rainwater App</a:t>
            </a:r>
          </a:p>
          <a:p>
            <a:pPr marL="0" indent="0" algn="l">
              <a:buNone/>
            </a:pPr>
            <a:r>
              <a:rPr lang="en-US" sz="1800" smtClean="0">
                <a:solidFill>
                  <a:srgbClr val="D4A88A"/>
                </a:solidFill>
              </a:rPr>
              <a:t>for Everyday Tracking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576" cy="201168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smtClean="0">
                <a:solidFill>
                  <a:srgbClr val="CCCCCC"/>
                </a:solidFill>
              </a:rPr>
              <a:t>Jal-Sanchay Tracker is a mobile application that helps households save setup details, record rainfall, estimate harvested water, and understand the real-life impact of conservation through a clean guided flow.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457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smtClean="0">
                <a:solidFill>
                  <a:srgbClr val="A0856C"/>
                </a:solidFill>
              </a:rPr>
              <a:t>Core 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smtClean="0">
                <a:solidFill>
                  <a:srgbClr val="000000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97880" y="960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smtClean="0">
                <a:solidFill>
                  <a:srgbClr val="2C1810"/>
                </a:solidFill>
              </a:rPr>
              <a:t>Save Setup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666666"/>
                </a:solidFill>
              </a:rPr>
              <a:t>Roof area, tank capacity, and roof material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737360"/>
            <a:ext cx="3566160" cy="9144"/>
          </a:xfrm>
          <a:prstGeom prst="rect">
            <a:avLst/>
          </a:prstGeom>
          <a:solidFill>
            <a:srgbClr val="CCCCCC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smtClean="0">
                <a:solidFill>
                  <a:srgbClr val="000000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9788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smtClean="0">
                <a:solidFill>
                  <a:srgbClr val="2C1810"/>
                </a:solidFill>
              </a:rPr>
              <a:t>Enter Rainfall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666666"/>
                </a:solidFill>
              </a:rPr>
              <a:t>Record rainfall values with validation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697480"/>
            <a:ext cx="3566160" cy="9144"/>
          </a:xfrm>
          <a:prstGeom prst="rect">
            <a:avLst/>
          </a:prstGeom>
          <a:solidFill>
            <a:srgbClr val="CCCCCC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smtClean="0">
                <a:solidFill>
                  <a:srgbClr val="000000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89788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smtClean="0">
                <a:solidFill>
                  <a:srgbClr val="2C1810"/>
                </a:solidFill>
              </a:rPr>
              <a:t>Track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978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666666"/>
                </a:solidFill>
              </a:rPr>
              <a:t>See saved litres, tank progress, and history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3657600"/>
            <a:ext cx="3566160" cy="9144"/>
          </a:xfrm>
          <a:prstGeom prst="rect">
            <a:avLst/>
          </a:prstGeom>
          <a:solidFill>
            <a:srgbClr val="CCCCCC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smtClean="0">
                <a:solidFill>
                  <a:srgbClr val="000000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9788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smtClean="0">
                <a:solidFill>
                  <a:srgbClr val="2C1810"/>
                </a:solidFill>
              </a:rPr>
              <a:t>Measure Impact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666666"/>
                </a:solidFill>
              </a:rPr>
              <a:t>Convert litres into household water-day meaning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3 of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smtClean="0">
                <a:solidFill>
                  <a:srgbClr val="A0856C"/>
                </a:solidFill>
              </a:rPr>
              <a:t>APP SCREENS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smtClean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Guided User Flow - Part 1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4 of 8</a:t>
            </a:r>
            <a:endParaRPr lang="en-US" sz="900" dirty="0"/>
          </a:p>
        </p:txBody>
      </p:sp>
      <p:sp>
        <p:nvSpPr>
          <p:cNvPr id="30" name="Rounded Rectangle 29"/>
          <p:cNvSpPr/>
          <p:nvPr/>
        </p:nvSpPr>
        <p:spPr>
          <a:xfrm>
            <a:off x="355600" y="1422400"/>
            <a:ext cx="26416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168" y="1549400"/>
            <a:ext cx="1180465" cy="2641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7200" y="4241800"/>
            <a:ext cx="2438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300" b="1" smtClean="0"/>
              <a:t>Welcome Screen</a:t>
            </a:r>
            <a:endParaRPr lang="en-IN" sz="1300" b="1"/>
          </a:p>
        </p:txBody>
      </p:sp>
      <p:sp>
        <p:nvSpPr>
          <p:cNvPr id="33" name="Rounded Rectangle 32"/>
          <p:cNvSpPr/>
          <p:nvPr/>
        </p:nvSpPr>
        <p:spPr>
          <a:xfrm>
            <a:off x="3251200" y="1422400"/>
            <a:ext cx="26416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Picture 33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767" y="1549400"/>
            <a:ext cx="1180465" cy="2641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352800" y="4241800"/>
            <a:ext cx="2438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300" b="1" smtClean="0"/>
              <a:t>Setup Screen</a:t>
            </a:r>
            <a:endParaRPr lang="en-IN" sz="1300" b="1"/>
          </a:p>
        </p:txBody>
      </p:sp>
      <p:sp>
        <p:nvSpPr>
          <p:cNvPr id="36" name="Rounded Rectangle 35"/>
          <p:cNvSpPr/>
          <p:nvPr/>
        </p:nvSpPr>
        <p:spPr>
          <a:xfrm>
            <a:off x="6146800" y="1422400"/>
            <a:ext cx="26416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7" name="Picture 36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368" y="1549400"/>
            <a:ext cx="1180465" cy="2641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248400" y="4241800"/>
            <a:ext cx="2438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300" b="1" smtClean="0"/>
              <a:t>Data Entry Screen</a:t>
            </a:r>
            <a:endParaRPr lang="en-IN" sz="13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smtClean="0">
                <a:solidFill>
                  <a:srgbClr val="A0856C"/>
                </a:solidFill>
              </a:rPr>
              <a:t>APP SCREENS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smtClean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Guided User Flow - Part 2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5 of 8</a:t>
            </a:r>
            <a:endParaRPr lang="en-US" sz="900" dirty="0"/>
          </a:p>
        </p:txBody>
      </p:sp>
      <p:sp>
        <p:nvSpPr>
          <p:cNvPr id="40" name="Rounded Rectangle 39"/>
          <p:cNvSpPr/>
          <p:nvPr/>
        </p:nvSpPr>
        <p:spPr>
          <a:xfrm>
            <a:off x="355600" y="1422400"/>
            <a:ext cx="26416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1" name="Picture 40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168" y="1549400"/>
            <a:ext cx="1180465" cy="26416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7200" y="4241800"/>
            <a:ext cx="2438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300" b="1" smtClean="0"/>
              <a:t>Dashboard</a:t>
            </a:r>
            <a:endParaRPr lang="en-IN" sz="1300" b="1"/>
          </a:p>
        </p:txBody>
      </p:sp>
      <p:sp>
        <p:nvSpPr>
          <p:cNvPr id="43" name="Rounded Rectangle 42"/>
          <p:cNvSpPr/>
          <p:nvPr/>
        </p:nvSpPr>
        <p:spPr>
          <a:xfrm>
            <a:off x="3251200" y="1422400"/>
            <a:ext cx="26416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767" y="1549400"/>
            <a:ext cx="1180465" cy="2641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352800" y="4241800"/>
            <a:ext cx="2438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300" b="1" smtClean="0"/>
              <a:t>Report</a:t>
            </a:r>
            <a:endParaRPr lang="en-IN" sz="1300" b="1"/>
          </a:p>
        </p:txBody>
      </p:sp>
      <p:sp>
        <p:nvSpPr>
          <p:cNvPr id="46" name="Rounded Rectangle 45"/>
          <p:cNvSpPr/>
          <p:nvPr/>
        </p:nvSpPr>
        <p:spPr>
          <a:xfrm>
            <a:off x="6146800" y="1422400"/>
            <a:ext cx="26416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DD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7" name="Picture 46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368" y="1549400"/>
            <a:ext cx="1180465" cy="2641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248400" y="4241800"/>
            <a:ext cx="24384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300" b="1" smtClean="0"/>
              <a:t>Impact Score</a:t>
            </a:r>
            <a:endParaRPr lang="en-IN" sz="13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smtClean="0">
                <a:solidFill>
                  <a:srgbClr val="A0856C"/>
                </a:solidFill>
              </a:rPr>
              <a:t>TECHNICAL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Build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114800" cy="1554480"/>
          </a:xfrm>
          <a:prstGeom prst="rect">
            <a:avLst/>
          </a:prstGeom>
          <a:solidFill>
            <a:srgbClr val="3D201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508760"/>
            <a:ext cx="411480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rgbClr val="FFFFFF"/>
                </a:solidFill>
              </a:rPr>
              <a:t>Android (Kotlin + Compose)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Single-activity flow with polished Compose screens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50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Guided navigation from Welcome to Tips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42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Reusable UI cards, buttons, and tank visual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4114800" cy="1554480"/>
          </a:xfrm>
          <a:prstGeom prst="rect">
            <a:avLst/>
          </a:prstGeom>
          <a:solidFill>
            <a:srgbClr val="3D201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508760"/>
            <a:ext cx="411480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rgbClr val="FFFFFF"/>
                </a:solidFill>
              </a:rPr>
              <a:t>Room Database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Store user_infrastructure and rainfall_log tables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350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Save historical rainfall entries locally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642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Support monthly report and offline persistence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4114800" cy="1554480"/>
          </a:xfrm>
          <a:prstGeom prst="rect">
            <a:avLst/>
          </a:prstGeom>
          <a:solidFill>
            <a:srgbClr val="3D201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411480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rgbClr val="FFFFFF"/>
                </a:solidFill>
              </a:rPr>
              <a:t>Reactive State Updates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DAO queries expose Flow for live database changes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ViewModel uses StateFlow for screen state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379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Compose recomposes dashboard and tank in real 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246120"/>
            <a:ext cx="4114800" cy="1554480"/>
          </a:xfrm>
          <a:prstGeom prst="rect">
            <a:avLst/>
          </a:prstGeom>
          <a:solidFill>
            <a:srgbClr val="3D2010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246120"/>
            <a:ext cx="4114800" cy="5486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rgbClr val="FFFFFF"/>
                </a:solidFill>
              </a:rPr>
              <a:t>Water Calculation Logic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Rainfall, roof area, and runoff behavior estimate saved litres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Tank percentage and household days are derived values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379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mtClean="0">
                <a:solidFill>
                  <a:srgbClr val="D2691E"/>
                </a:solidFill>
              </a:rPr>
              <a:t>-&gt; Impact screen explains the conservation result clearly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6 of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smtClean="0">
                <a:solidFill>
                  <a:srgbClr val="A0856C"/>
                </a:solidFill>
              </a:rPr>
              <a:t>IMPACT GOALS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smtClean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011680" cy="64008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00200"/>
            <a:ext cx="914400" cy="914400"/>
          </a:xfrm>
          <a:prstGeom prst="ellipse">
            <a:avLst/>
          </a:prstGeom>
          <a:solidFill>
            <a:srgbClr val="8B4513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smtClean="0">
                <a:solidFill>
                  <a:srgbClr val="000000"/>
                </a:solidFill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smtClean="0">
                <a:solidFill>
                  <a:srgbClr val="2C1810"/>
                </a:solidFill>
              </a:rPr>
              <a:t>Water Awareness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8B4513"/>
                </a:solidFill>
              </a:rPr>
              <a:t>Makes Saving Visible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mtClean="0">
                <a:solidFill>
                  <a:srgbClr val="555555"/>
                </a:solidFill>
              </a:rPr>
              <a:t>The app turns rainfall into visible litres, tank progress, and report data that users can understand quickly.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417320"/>
            <a:ext cx="2011680" cy="640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Shape 12"/>
          <p:cNvSpPr/>
          <p:nvPr/>
        </p:nvSpPr>
        <p:spPr>
          <a:xfrm>
            <a:off x="3017520" y="1600200"/>
            <a:ext cx="914400" cy="914400"/>
          </a:xfrm>
          <a:prstGeom prst="ellipse">
            <a:avLst/>
          </a:prstGeom>
          <a:solidFill>
            <a:srgbClr val="2D6A4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smtClean="0">
                <a:solidFill>
                  <a:srgbClr val="000000"/>
                </a:solidFill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56032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smtClean="0">
                <a:solidFill>
                  <a:srgbClr val="2C1810"/>
                </a:solidFill>
              </a:rPr>
              <a:t>Household Tracking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2D6A4F"/>
                </a:solidFill>
              </a:rPr>
              <a:t>Builds Better Habits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mtClean="0">
                <a:solidFill>
                  <a:srgbClr val="555555"/>
                </a:solidFill>
              </a:rPr>
              <a:t>Historical entries and monthly summaries help families review how much rainwater harvesting is really contributing.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417320"/>
            <a:ext cx="2011680" cy="6400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1" name="Shape 19"/>
          <p:cNvSpPr/>
          <p:nvPr/>
        </p:nvSpPr>
        <p:spPr>
          <a:xfrm>
            <a:off x="5166360" y="1600200"/>
            <a:ext cx="914400" cy="914400"/>
          </a:xfrm>
          <a:prstGeom prst="ellipse">
            <a:avLst/>
          </a:prstGeom>
          <a:solidFill>
            <a:srgbClr val="1A5276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smtClean="0">
                <a:solidFill>
                  <a:srgbClr val="000000"/>
                </a:solidFill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0916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smtClean="0">
                <a:solidFill>
                  <a:srgbClr val="2C1810"/>
                </a:solidFill>
              </a:rPr>
              <a:t>Concept Clarity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1A5276"/>
                </a:solidFill>
              </a:rPr>
              <a:t>Explains Impact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mtClean="0">
                <a:solidFill>
                  <a:srgbClr val="555555"/>
                </a:solidFill>
              </a:rPr>
              <a:t>Impact score converts saved litres into household water days, making conservation easier to explain in demos and reports.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417320"/>
            <a:ext cx="20116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417320"/>
            <a:ext cx="2011680" cy="64008"/>
          </a:xfrm>
          <a:prstGeom prst="rect">
            <a:avLst/>
          </a:prstGeom>
          <a:solidFill>
            <a:srgbClr val="6D4C41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0" y="1600200"/>
            <a:ext cx="914400" cy="914400"/>
          </a:xfrm>
          <a:prstGeom prst="ellipse">
            <a:avLst/>
          </a:prstGeom>
          <a:solidFill>
            <a:srgbClr val="6D4C41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smtClean="0">
                <a:solidFill>
                  <a:srgbClr val="000000"/>
                </a:solidFill>
              </a:rPr>
              <a:t>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0" y="2651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smtClean="0">
                <a:solidFill>
                  <a:srgbClr val="2C1810"/>
                </a:solidFill>
              </a:rPr>
              <a:t>Sustainability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6D4C41"/>
                </a:solidFill>
              </a:rPr>
              <a:t>Encourages Action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smtClean="0">
                <a:solidFill>
                  <a:srgbClr val="555555"/>
                </a:solidFill>
              </a:rPr>
              <a:t>A clean and friendly mobile experience motivates regular entry of rainfall data and stronger long-term water awareness.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7 of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8B45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smtClean="0">
                <a:solidFill>
                  <a:srgbClr val="A0856C"/>
                </a:solidFill>
              </a:rPr>
              <a:t>SUCCESS CRITERIA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Jal-Sanchay</a:t>
            </a:r>
          </a:p>
          <a:p>
            <a:pPr marL="0" indent="0" algn="l">
              <a:buNone/>
            </a:pPr>
            <a:r>
              <a:rPr lang="en-US" sz="3400" b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Ready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93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mtClean="0">
                <a:solidFill>
                  <a:srgbClr val="DDDDDD"/>
                </a:solidFill>
              </a:rPr>
              <a:t>- Guided flow: Welcome -&gt; Setup -&gt; Data Entry -&gt; Dashboard -&gt; Report -&gt; Impact -&gt; Tips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41448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mtClean="0">
                <a:solidFill>
                  <a:srgbClr val="DDDDDD"/>
                </a:solidFill>
              </a:rPr>
              <a:t>- Rainfall history stored and retrieved through Room Database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16936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443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mtClean="0">
                <a:solidFill>
                  <a:srgbClr val="DDDDDD"/>
                </a:solidFill>
              </a:rPr>
              <a:t>- Dashboard updates live using Flow, StateFlow, and Compose recomposition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92424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198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mtClean="0">
                <a:solidFill>
                  <a:srgbClr val="DDDDDD"/>
                </a:solidFill>
              </a:rPr>
              <a:t>- Water tank progress and household impact shown visually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67912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953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mtClean="0">
                <a:solidFill>
                  <a:srgbClr val="DDDDDD"/>
                </a:solidFill>
              </a:rPr>
              <a:t>- Clean branded UI using the blue and aqua app theme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4754880" cy="420624"/>
          </a:xfrm>
          <a:prstGeom prst="rect">
            <a:avLst/>
          </a:prstGeom>
          <a:solidFill>
            <a:srgbClr val="3D201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708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mtClean="0">
                <a:solidFill>
                  <a:srgbClr val="DDDDDD"/>
                </a:solidFill>
              </a:rPr>
              <a:t>- Ready for internship presentation and database demonstration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457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smtClean="0">
                <a:solidFill>
                  <a:srgbClr val="D4A88A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mtClean="0">
                <a:solidFill>
                  <a:srgbClr val="F5E6D3"/>
                </a:solidFill>
              </a:rPr>
              <a:t>Live weather API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mtClean="0">
                <a:solidFill>
                  <a:srgbClr val="F5E6D3"/>
                </a:solidFill>
              </a:rPr>
              <a:t>Charts for rainfall analytics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mtClean="0">
                <a:solidFill>
                  <a:srgbClr val="F5E6D3"/>
                </a:solidFill>
              </a:rPr>
              <a:t>Cloud sync and backup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mtClean="0">
                <a:solidFill>
                  <a:srgbClr val="F5E6D3"/>
                </a:solidFill>
              </a:rPr>
              <a:t>Regional language support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smtClean="0">
                <a:solidFill>
                  <a:srgbClr val="F5E6D3"/>
                </a:solidFill>
              </a:rPr>
              <a:t>Smart reminders for rainfall entry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3749040"/>
            <a:ext cx="3291840" cy="1005840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3749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mtClean="0">
                <a:solidFill>
                  <a:srgbClr val="FFFFFF"/>
                </a:solidFill>
              </a:rPr>
              <a:t>Measure every drop.</a:t>
            </a:r>
          </a:p>
          <a:p>
            <a:pPr marL="0" indent="0" algn="ctr">
              <a:buNone/>
            </a:pPr>
            <a:r>
              <a:rPr lang="en-US" sz="1600" b="1" smtClean="0">
                <a:solidFill>
                  <a:srgbClr val="FFFFFF"/>
                </a:solidFill>
              </a:rPr>
              <a:t>Explain every saving.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856C"/>
                </a:solidFill>
              </a:rPr>
              <a:t>Slide 8 of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626</Words>
  <Application>Microsoft Office PowerPoint</Application>
  <PresentationFormat>On-screen Show (16:9)</PresentationFormat>
  <Paragraphs>129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Kashta-Kala - Digital Design Catalog for Carpenters</dc:title>
  <dc:subject>PptxGenJS Presentation</dc:subject>
  <dc:creator>PptxGenJS</dc:creator>
  <cp:lastModifiedBy>HP</cp:lastModifiedBy>
  <cp:revision>4</cp:revision>
  <dcterms:created xsi:type="dcterms:W3CDTF">2026-05-07T17:03:19Z</dcterms:created>
  <dcterms:modified xsi:type="dcterms:W3CDTF">2026-05-07T19:04:14Z</dcterms:modified>
</cp:coreProperties>
</file>